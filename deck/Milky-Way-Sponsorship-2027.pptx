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715990d-9fe4-4bca-fce8-152df1bf1b19}">
          <p14:sldIdLst>
            <p14:sldId id="256"/>
            <p14:sldId id="257"/>
          </p14:sldIdLst>
        </p14:section>
        <p14:section name="The festival" id="{a859cdce-e4a0-faf6-0b0e-9cde7b19f2c9}">
          <p14:sldIdLst>
            <p14:sldId id="258"/>
            <p14:sldId id="259"/>
          </p14:sldIdLst>
        </p14:section>
        <p14:section name="Road to Milky Way" id="{2d4e0358-517c-5b26-6428-3ff01d2e1024}">
          <p14:sldIdLst>
            <p14:sldId id="260"/>
          </p14:sldIdLst>
        </p14:section>
        <p14:section name="The destination" id="{1618bef0-68ad-db97-28e6-2ae8143511fd}">
          <p14:sldIdLst>
            <p14:sldId id="261"/>
            <p14:sldId id="262"/>
            <p14:sldId id="263"/>
          </p14:sldIdLst>
        </p14:section>
        <p14:section name="The audience" id="{7b306f17-2976-81fb-5c30-5c061920045d}">
          <p14:sldIdLst>
            <p14:sldId id="264"/>
            <p14:sldId id="265"/>
          </p14:sldIdLst>
        </p14:section>
        <p14:section name="Our story" id="{a5c2e841-fdfb-ff07-31d9-140cae152dc7}">
          <p14:sldIdLst>
            <p14:sldId id="266"/>
            <p14:sldId id="267"/>
            <p14:sldId id="268"/>
          </p14:sldIdLst>
        </p14:section>
        <p14:section name="Reach and company" id="{1775f408-5d51-6236-1362-d06c48c24128}">
          <p14:sldIdLst>
            <p14:sldId id="269"/>
            <p14:sldId id="270"/>
          </p14:sldIdLst>
        </p14:section>
        <p14:section name="Sponsorship" id="{682fc863-52e8-de67-7101-c7df2ae3d0e9}">
          <p14:sldIdLst>
            <p14:sldId id="271"/>
            <p14:sldId id="272"/>
            <p14:sldId id="273"/>
          </p14:sldIdLst>
        </p14:section>
        <p14:section name="Contact" id="{e9746f83-56e9-b1e0-dd03-db0fcc267efd}">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Milky Way, presented by Masters' Union University. A Fest Where the Universe Comes Alive. 18th–21st February 2027: 18th–19th February 2027 at Masters' Union University, Gurugram, India; 20th–21st February 2027 at Yashobhoomi Convention Centre, Delhi,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1L+ GenZs, Under One Sky, And You Light it Up. The festival lands at Yashobhoomi, Delhi.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Masters' Union University's Cultural Fest. We are Building Asia's Largest College Festival, and We Want You to Shape it With Us. From our classrooms to a cultural experience like never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bands, gaming, performing arts and informals all day long. And when the sun goes down, the pronites begin. We are bringing the brightest stars from across India into one arena of music, competition and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 to Milky Way brings one signature experience to each city on the map, free for UG students across India. Seven cities. Seven nights nobody forgets. Then everyone meets in Delhi. The cities, in order: Delhi, Jaipur, Bangalore, Chandigarh, Mumbai, Varanasi, Guwahati; then everyone meets in Delhi, at Yashobhoomi.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festival: Yashobhoomi, Delhi. Booked for 20th–21st February 2027. One of India's Most Sought After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making room for something memorable. With competitions, performances, branded experiences that draw students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days on campus: 18th–19th February 2027 at Masters' Union University, Gurugram, India. The campus tour: youtube.com/watch?v=N5Crw6YCkSU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They’re finding themselves. Their tastes. Their next favourite brands. College students between 18 to 22 are coming together around what they love.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brand can be part of their experience, through a product they try, an experience they join or a competition you help bring to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Guests at Masters' Union: Rohit Sharma, Samay Raina, Tanmay Bhat, Sahiba Bali, Nuseir Yasin, Ganeshprasad Sridharan, Dr. Nandini Seth, Peyush Bansal.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Student-built startups (Lexi's Gourmet Sandwiches). ₹1.2 crore+ Cumulative revenue through Dropshipping Melas (The Dropshipping Mela). ₹5 crore Live student-managed investment fund (Masters' Union Investment 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HYROX Delhi &amp; Mumbai: Masters' Union University as Title Sponsor. 25K+ athletes across both cities. Demo Day: ₹60.5 crore in investment committed to student ventures in a single hour. AI Summit: Bringing together Nas Daily, NVIDIA, Google Cloud and IndiaAI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Instagram: 200M+ views (@masters.union). YouTube: 112M lifetime views. LinkedIn: 139K followers.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Brands we’ve worked with. Relationships we’re proud to build on. Across Masters’ Union University’s events, programmes and partnerships. PwC, HYROX, Bloomberg, PokerBaazi, boAt, NIVIA, Zerodha, SuperYou, Red Bull, Illinois Institute of Technology, Shark Tank India, ITC Limited, Philips, Ferrari, Snitch, Peakst8, Reebok, Your Space, Hero, Agoda, MakeMyTrip, Meesho, NVIDIA, upGrad, Myntra.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Partner: Title integration with Milky Way. Powered By: “Powered By” association. Associate: Associate designation. Co-Sponsor: Co-Sponsor designation.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Association: Title Partner Title integration with Milky Way; Powered By “Powered By” association; Associate Associate designation; Co-Sponsor Co-Sponsor designation. Category Exclusivity: Title Partner ✓; Powered By Available where agreed; Associate —; Co-Sponsor —. Road to Milky Way: Title Partner Pan-city presence across all 7 cities; Powered By Pan-city presence across all 7 cities; Associate Select city / RTM touchpoints; Co-Sponsor —. Main Festival Branding: Title Partner Highest visibility across key festival touchpoints; Powered By Extensive visibility; Associate Prominent visibility across select touchpoints; Co-Sponsor Select branding: sponsor walls, standees &amp; common areas. Stage &amp; Programming Visibility: Title Partner Primary main-stage visibility + branded AV opportunities; Powered By Prominent stage / programming-zone visibility + AV opportunities; Associate Select stage / programming-zone visibility; Co-Sponsor —. Emcee Mentions: Title Partner Priority mentions; Powered By Multiple scheduled mentions; Associate Select mentions; Co-Sponsor —. Experience Zone: Title Partner First choice of placement + premium space; Powered By Priority placement + customisation support; Associate Standard activation / booth space; Co-Sponsor Booth space. Curated Brand Activation: Title Partner Up to 2 bespoke experiences; Powered By Up to 1 bespoke experience; Associate 1 activation opportunity; Co-Sponsor Booth-led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Presence: Title Partner Premium placement across key pages; Powered By Prominent placement; Associate Sponsor section + select pages; Co-Sponsor Sponsor section. Social Media: Title Partner Integrated visibility across the owned digital ecosystem; Powered By Extensive planned coverage; Associate Planned social coverage; Co-Sponsor Select stories, reels &amp; sponsor content. Email &amp; Direct Channels: Title Partner Extensive integration; Powered By Select integration; Associate Select inclusion; Co-Sponsor —. Artist / Headliner Integration: Title Partner Priority opportunities, subject to rights &amp; availability; Powered By Select opportunities, subject to rights &amp; availability; Associate —; Co-Sponsor —. PR &amp; Communications: Title Partner Inclusion across key festival communications; Powered By Select PR inclusion; Associate Sponsor acknowledgement where relevant; Co-Sponsor —. Festival Collateral: Title Partner Premium placement across key collateral; Powered By Prominent placement across key collateral; Associate Select collateral; Co-Sponsor Sponsor wall / select collateral. Post-Event Value: Title Partner Detailed impact report + bespoke brand content / film; Powered By Impact report + brand-film integration; Associate Performance summary + event content; Co-Sponsor Aftermovie inclusion. Partner Access Passes: Title Partner 10+; Powered By 8; Associate 5; Co-Sponsor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us a signal. Sponsorship Team: Ananya Singh, ananya.singh1@mastersunion.org; Chirag Naryani, chirag.naryani_UGTBM2028@mastersunion.org. For further queries write to us at milkyway@mastersunion.org. Masters' Union University, Gurugram, Haryana.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Milky Way: The universe is yours. A Masters' Union University 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614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TEMENT">
    <p:bg>
      <p:bgPr>
        <a:solidFill>
          <a:srgbClr val="161417"/>
        </a:solidFill>
      </p:bgPr>
    </p:bg>
    <p:spTree>
      <p:nvGrpSpPr>
        <p:cNvPr id="1" name=""/>
        <p:cNvGrpSpPr/>
        <p:nvPr/>
      </p:nvGrpSpPr>
      <p:grpSpPr>
        <a:xfrm>
          <a:off x="0" y="0"/>
          <a:ext cx="0" cy="0"/>
          <a:chOff x="0" y="0"/>
          <a:chExt cx="0" cy="0"/>
        </a:xfrm>
      </p:grpSpPr>
      <p:sp>
        <p:nvSpPr>
          <p:cNvPr id="2" name="Text 0"/>
          <p:cNvSpPr/>
          <p:nvPr/>
        </p:nvSpPr>
        <p:spPr>
          <a:xfrm>
            <a:off x="548640" y="6400800"/>
            <a:ext cx="5486400" cy="201168"/>
          </a:xfrm>
          <a:prstGeom prst="rect">
            <a:avLst/>
          </a:prstGeom>
          <a:noFill/>
          <a:ln/>
        </p:spPr>
        <p:txBody>
          <a:bodyPr wrap="square" lIns="0" tIns="0" rIns="0" bIns="0" rtlCol="0" anchor="ctr"/>
          <a:lstStyle/>
          <a:p>
            <a:pPr indent="0" marL="0">
              <a:buNone/>
            </a:pPr>
            <a:r>
              <a:rPr lang="en-US" sz="900" b="1" spc="200" kern="0" dirty="0">
                <a:solidFill>
                  <a:schemeClr val="bg1"/>
                </a:solidFill>
              </a:rPr>
              <a:t>MILKY WAY  ·  SPONSORSHIP 2027</a:t>
            </a:r>
            <a:endParaRPr lang="en-US" sz="900" dirty="0"/>
          </a:p>
        </p:txBody>
      </p:sp>
      <p:sp>
        <p:nvSpPr>
          <p:cNvPr id="3" name="Text 1"/>
          <p:cNvSpPr/>
          <p:nvPr>
            <p:ph idx="101" type="title" hasCustomPrompt="1"/>
          </p:nvPr>
        </p:nvSpPr>
        <p:spPr>
          <a:xfrm>
            <a:off x="548640" y="1234440"/>
            <a:ext cx="9509760" cy="3108960"/>
          </a:xfrm>
          <a:prstGeom prst="rect">
            <a:avLst/>
          </a:prstGeom>
          <a:noFill/>
          <a:ln/>
        </p:spPr>
        <p:txBody>
          <a:bodyPr wrap="square" rtlCol="0"/>
          <a:lstStyle>
            <a:lvl1pPr indent="0" marL="0">
              <a:lnSpc>
                <a:spcPct val="92000"/>
              </a:lnSpc>
              <a:buNone/>
              <a:defRPr lang="en-US" sz="6600" b="1" dirty="0">
                <a:solidFill>
                  <a:schemeClr val="bg1"/>
                </a:solidFill>
              </a:defRPr>
            </a:lvl1pPr>
          </a:lstStyle>
          <a:p>
            <a:pPr indent="0" marL="0">
              <a:lnSpc>
                <a:spcPct val="92000"/>
              </a:lnSpc>
              <a:buNone/>
            </a:pPr>
            <a:endParaRPr lang="en-US" sz="6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61417"/>
        </a:solidFill>
      </p:bgPr>
    </p:bg>
    <p:spTree>
      <p:nvGrpSpPr>
        <p:cNvPr id="1" name=""/>
        <p:cNvGrpSpPr/>
        <p:nvPr/>
      </p:nvGrpSpPr>
      <p:grpSpPr>
        <a:xfrm>
          <a:off x="0" y="0"/>
          <a:ext cx="0" cy="0"/>
          <a:chOff x="0" y="0"/>
          <a:chExt cx="0" cy="0"/>
        </a:xfrm>
      </p:grpSpPr>
      <p:sp>
        <p:nvSpPr>
          <p:cNvPr id="2" name="Text 0"/>
          <p:cNvSpPr/>
          <p:nvPr/>
        </p:nvSpPr>
        <p:spPr>
          <a:xfrm>
            <a:off x="548640" y="6400800"/>
            <a:ext cx="5486400" cy="201168"/>
          </a:xfrm>
          <a:prstGeom prst="rect">
            <a:avLst/>
          </a:prstGeom>
          <a:noFill/>
          <a:ln/>
        </p:spPr>
        <p:txBody>
          <a:bodyPr wrap="square" lIns="0" tIns="0" rIns="0" bIns="0" rtlCol="0" anchor="ctr"/>
          <a:lstStyle/>
          <a:p>
            <a:pPr indent="0" marL="0">
              <a:buNone/>
            </a:pPr>
            <a:r>
              <a:rPr lang="en-US" sz="900" b="1" spc="200" kern="0" dirty="0">
                <a:solidFill>
                  <a:schemeClr val="bg1"/>
                </a:solidFill>
              </a:rPr>
              <a:t>MILKY WAY  ·  SPONSORSHIP 2027</a:t>
            </a:r>
            <a:endParaRPr lang="en-US" sz="900" dirty="0"/>
          </a:p>
        </p:txBody>
      </p:sp>
      <p:sp>
        <p:nvSpPr>
          <p:cNvPr id="3" name="Text 1"/>
          <p:cNvSpPr/>
          <p:nvPr>
            <p:ph idx="101" type="title" hasCustomPrompt="1"/>
          </p:nvPr>
        </p:nvSpPr>
        <p:spPr>
          <a:xfrm>
            <a:off x="548640" y="777240"/>
            <a:ext cx="8778240" cy="1371600"/>
          </a:xfrm>
          <a:prstGeom prst="rect">
            <a:avLst/>
          </a:prstGeom>
          <a:noFill/>
          <a:ln/>
        </p:spPr>
        <p:txBody>
          <a:bodyPr wrap="square" rtlCol="0"/>
          <a:lstStyle>
            <a:lvl1pPr indent="0" marL="0">
              <a:lnSpc>
                <a:spcPct val="92000"/>
              </a:lnSpc>
              <a:buNone/>
              <a:defRPr lang="en-US" sz="3600" b="1" dirty="0">
                <a:solidFill>
                  <a:schemeClr val="bg1"/>
                </a:solidFill>
              </a:defRPr>
            </a:lvl1pPr>
          </a:lstStyle>
          <a:p>
            <a:pPr indent="0" marL="0">
              <a:lnSpc>
                <a:spcPct val="92000"/>
              </a:lnSpc>
              <a:buNone/>
            </a:pPr>
            <a:endParaRPr lang="en-US" sz="3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EP">
    <p:bg>
      <p:bgPr>
        <a:solidFill>
          <a:srgbClr val="25246F"/>
        </a:solidFill>
      </p:bgPr>
    </p:bg>
    <p:spTree>
      <p:nvGrpSpPr>
        <p:cNvPr id="1" name=""/>
        <p:cNvGrpSpPr/>
        <p:nvPr/>
      </p:nvGrpSpPr>
      <p:grpSpPr>
        <a:xfrm>
          <a:off x="0" y="0"/>
          <a:ext cx="0" cy="0"/>
          <a:chOff x="0" y="0"/>
          <a:chExt cx="0" cy="0"/>
        </a:xfrm>
      </p:grpSpPr>
      <p:sp>
        <p:nvSpPr>
          <p:cNvPr id="2" name="Text 0"/>
          <p:cNvSpPr/>
          <p:nvPr/>
        </p:nvSpPr>
        <p:spPr>
          <a:xfrm>
            <a:off x="548640" y="6400800"/>
            <a:ext cx="5486400" cy="201168"/>
          </a:xfrm>
          <a:prstGeom prst="rect">
            <a:avLst/>
          </a:prstGeom>
          <a:noFill/>
          <a:ln/>
        </p:spPr>
        <p:txBody>
          <a:bodyPr wrap="square" lIns="0" tIns="0" rIns="0" bIns="0" rtlCol="0" anchor="ctr"/>
          <a:lstStyle/>
          <a:p>
            <a:pPr indent="0" marL="0">
              <a:buNone/>
            </a:pPr>
            <a:r>
              <a:rPr lang="en-US" sz="900" b="1" spc="200" kern="0" dirty="0">
                <a:solidFill>
                  <a:schemeClr val="bg1"/>
                </a:solidFill>
              </a:rPr>
              <a:t>MILKY WAY  ·  SPONSORSHIP 2027</a:t>
            </a:r>
            <a:endParaRPr lang="en-US" sz="900" dirty="0"/>
          </a:p>
        </p:txBody>
      </p:sp>
      <p:sp>
        <p:nvSpPr>
          <p:cNvPr id="3" name="Text 1"/>
          <p:cNvSpPr/>
          <p:nvPr>
            <p:ph idx="101" type="title" hasCustomPrompt="1"/>
          </p:nvPr>
        </p:nvSpPr>
        <p:spPr>
          <a:xfrm>
            <a:off x="548640" y="777240"/>
            <a:ext cx="8778240" cy="1371600"/>
          </a:xfrm>
          <a:prstGeom prst="rect">
            <a:avLst/>
          </a:prstGeom>
          <a:noFill/>
          <a:ln/>
        </p:spPr>
        <p:txBody>
          <a:bodyPr wrap="square" rtlCol="0"/>
          <a:lstStyle>
            <a:lvl1pPr indent="0" marL="0">
              <a:lnSpc>
                <a:spcPct val="92000"/>
              </a:lnSpc>
              <a:buNone/>
              <a:defRPr lang="en-US" sz="3600" b="1" dirty="0">
                <a:solidFill>
                  <a:schemeClr val="bg1"/>
                </a:solidFill>
              </a:defRPr>
            </a:lvl1pPr>
          </a:lstStyle>
          <a:p>
            <a:pPr indent="0" marL="0">
              <a:lnSpc>
                <a:spcPct val="92000"/>
              </a:lnSpc>
              <a:buNone/>
            </a:pPr>
            <a:endParaRPr lang="en-US" sz="3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NDIGO">
    <p:bg>
      <p:bgPr>
        <a:solidFill>
          <a:srgbClr val="2F2FA9"/>
        </a:solidFill>
      </p:bgPr>
    </p:bg>
    <p:spTree>
      <p:nvGrpSpPr>
        <p:cNvPr id="1" name=""/>
        <p:cNvGrpSpPr/>
        <p:nvPr/>
      </p:nvGrpSpPr>
      <p:grpSpPr>
        <a:xfrm>
          <a:off x="0" y="0"/>
          <a:ext cx="0" cy="0"/>
          <a:chOff x="0" y="0"/>
          <a:chExt cx="0" cy="0"/>
        </a:xfrm>
      </p:grpSpPr>
      <p:sp>
        <p:nvSpPr>
          <p:cNvPr id="2" name="Text 0"/>
          <p:cNvSpPr/>
          <p:nvPr/>
        </p:nvSpPr>
        <p:spPr>
          <a:xfrm>
            <a:off x="548640" y="6400800"/>
            <a:ext cx="5486400" cy="201168"/>
          </a:xfrm>
          <a:prstGeom prst="rect">
            <a:avLst/>
          </a:prstGeom>
          <a:noFill/>
          <a:ln/>
        </p:spPr>
        <p:txBody>
          <a:bodyPr wrap="square" lIns="0" tIns="0" rIns="0" bIns="0" rtlCol="0" anchor="ctr"/>
          <a:lstStyle/>
          <a:p>
            <a:pPr indent="0" marL="0">
              <a:buNone/>
            </a:pPr>
            <a:r>
              <a:rPr lang="en-US" sz="900" b="1" spc="200" kern="0" dirty="0">
                <a:solidFill>
                  <a:schemeClr val="bg1"/>
                </a:solidFill>
              </a:rPr>
              <a:t>MILKY WAY  ·  SPONSORSHIP 2027</a:t>
            </a:r>
            <a:endParaRPr lang="en-US" sz="900" dirty="0"/>
          </a:p>
        </p:txBody>
      </p:sp>
      <p:sp>
        <p:nvSpPr>
          <p:cNvPr id="3" name="Text 1"/>
          <p:cNvSpPr/>
          <p:nvPr>
            <p:ph idx="101" type="title" hasCustomPrompt="1"/>
          </p:nvPr>
        </p:nvSpPr>
        <p:spPr>
          <a:xfrm>
            <a:off x="548640" y="777240"/>
            <a:ext cx="8778240" cy="1371600"/>
          </a:xfrm>
          <a:prstGeom prst="rect">
            <a:avLst/>
          </a:prstGeom>
          <a:noFill/>
          <a:ln/>
        </p:spPr>
        <p:txBody>
          <a:bodyPr wrap="square" rtlCol="0"/>
          <a:lstStyle>
            <a:lvl1pPr indent="0" marL="0">
              <a:lnSpc>
                <a:spcPct val="92000"/>
              </a:lnSpc>
              <a:buNone/>
              <a:defRPr lang="en-US" sz="3600" b="1" dirty="0">
                <a:solidFill>
                  <a:schemeClr val="bg1"/>
                </a:solidFill>
              </a:defRPr>
            </a:lvl1pPr>
          </a:lstStyle>
          <a:p>
            <a:pPr indent="0" marL="0">
              <a:lnSpc>
                <a:spcPct val="92000"/>
              </a:lnSpc>
              <a:buNone/>
            </a:pPr>
            <a:endParaRPr lang="en-US" sz="3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LUM">
    <p:bg>
      <p:bgPr>
        <a:solidFill>
          <a:srgbClr val="8230C2"/>
        </a:solidFill>
      </p:bgPr>
    </p:bg>
    <p:spTree>
      <p:nvGrpSpPr>
        <p:cNvPr id="1" name=""/>
        <p:cNvGrpSpPr/>
        <p:nvPr/>
      </p:nvGrpSpPr>
      <p:grpSpPr>
        <a:xfrm>
          <a:off x="0" y="0"/>
          <a:ext cx="0" cy="0"/>
          <a:chOff x="0" y="0"/>
          <a:chExt cx="0" cy="0"/>
        </a:xfrm>
      </p:grpSpPr>
      <p:sp>
        <p:nvSpPr>
          <p:cNvPr id="2" name="Text 0"/>
          <p:cNvSpPr/>
          <p:nvPr/>
        </p:nvSpPr>
        <p:spPr>
          <a:xfrm>
            <a:off x="548640" y="6400800"/>
            <a:ext cx="5486400" cy="201168"/>
          </a:xfrm>
          <a:prstGeom prst="rect">
            <a:avLst/>
          </a:prstGeom>
          <a:noFill/>
          <a:ln/>
        </p:spPr>
        <p:txBody>
          <a:bodyPr wrap="square" lIns="0" tIns="0" rIns="0" bIns="0" rtlCol="0" anchor="ctr"/>
          <a:lstStyle/>
          <a:p>
            <a:pPr indent="0" marL="0">
              <a:buNone/>
            </a:pPr>
            <a:r>
              <a:rPr lang="en-US" sz="900" b="1" spc="200" kern="0" dirty="0">
                <a:solidFill>
                  <a:schemeClr val="bg1"/>
                </a:solidFill>
              </a:rPr>
              <a:t>MILKY WAY  ·  SPONSORSHIP 2027</a:t>
            </a:r>
            <a:endParaRPr lang="en-US" sz="900" dirty="0"/>
          </a:p>
        </p:txBody>
      </p:sp>
      <p:sp>
        <p:nvSpPr>
          <p:cNvPr id="3" name="Text 1"/>
          <p:cNvSpPr/>
          <p:nvPr>
            <p:ph idx="101" type="title" hasCustomPrompt="1"/>
          </p:nvPr>
        </p:nvSpPr>
        <p:spPr>
          <a:xfrm>
            <a:off x="548640" y="777240"/>
            <a:ext cx="8778240" cy="1371600"/>
          </a:xfrm>
          <a:prstGeom prst="rect">
            <a:avLst/>
          </a:prstGeom>
          <a:noFill/>
          <a:ln/>
        </p:spPr>
        <p:txBody>
          <a:bodyPr wrap="square" rtlCol="0"/>
          <a:lstStyle>
            <a:lvl1pPr indent="0" marL="0">
              <a:lnSpc>
                <a:spcPct val="92000"/>
              </a:lnSpc>
              <a:buNone/>
              <a:defRPr lang="en-US" sz="3600" b="1" dirty="0">
                <a:solidFill>
                  <a:schemeClr val="bg1"/>
                </a:solidFill>
              </a:defRPr>
            </a:lvl1pPr>
          </a:lstStyle>
          <a:p>
            <a:pPr indent="0" marL="0">
              <a:lnSpc>
                <a:spcPct val="92000"/>
              </a:lnSpc>
              <a:buNone/>
            </a:pPr>
            <a:endParaRPr lang="en-US" sz="3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URPLE">
    <p:bg>
      <p:bgPr>
        <a:solidFill>
          <a:srgbClr val="D845FC"/>
        </a:solidFill>
      </p:bgPr>
    </p:bg>
    <p:spTree>
      <p:nvGrpSpPr>
        <p:cNvPr id="1" name=""/>
        <p:cNvGrpSpPr/>
        <p:nvPr/>
      </p:nvGrpSpPr>
      <p:grpSpPr>
        <a:xfrm>
          <a:off x="0" y="0"/>
          <a:ext cx="0" cy="0"/>
          <a:chOff x="0" y="0"/>
          <a:chExt cx="0" cy="0"/>
        </a:xfrm>
      </p:grpSpPr>
      <p:sp>
        <p:nvSpPr>
          <p:cNvPr id="2" name="Text 0"/>
          <p:cNvSpPr/>
          <p:nvPr/>
        </p:nvSpPr>
        <p:spPr>
          <a:xfrm>
            <a:off x="548640" y="6400800"/>
            <a:ext cx="5486400" cy="201168"/>
          </a:xfrm>
          <a:prstGeom prst="rect">
            <a:avLst/>
          </a:prstGeom>
          <a:noFill/>
          <a:ln/>
        </p:spPr>
        <p:txBody>
          <a:bodyPr wrap="square" lIns="0" tIns="0" rIns="0" bIns="0" rtlCol="0" anchor="ctr"/>
          <a:lstStyle/>
          <a:p>
            <a:pPr indent="0" marL="0">
              <a:buNone/>
            </a:pPr>
            <a:r>
              <a:rPr lang="en-US" sz="900" b="1" spc="200" kern="0" dirty="0">
                <a:solidFill>
                  <a:schemeClr val="tx1"/>
                </a:solidFill>
              </a:rPr>
              <a:t>MILKY WAY  ·  SPONSORSHIP 2027</a:t>
            </a:r>
            <a:endParaRPr lang="en-US" sz="900" dirty="0"/>
          </a:p>
        </p:txBody>
      </p:sp>
      <p:sp>
        <p:nvSpPr>
          <p:cNvPr id="3" name="Text 1"/>
          <p:cNvSpPr/>
          <p:nvPr>
            <p:ph idx="101" type="title" hasCustomPrompt="1"/>
          </p:nvPr>
        </p:nvSpPr>
        <p:spPr>
          <a:xfrm>
            <a:off x="548640" y="777240"/>
            <a:ext cx="8778240" cy="1371600"/>
          </a:xfrm>
          <a:prstGeom prst="rect">
            <a:avLst/>
          </a:prstGeom>
          <a:noFill/>
          <a:ln/>
        </p:spPr>
        <p:txBody>
          <a:bodyPr wrap="square" rtlCol="0"/>
          <a:lstStyle>
            <a:lvl1pPr indent="0" marL="0">
              <a:lnSpc>
                <a:spcPct val="92000"/>
              </a:lnSpc>
              <a:buNone/>
              <a:defRPr lang="en-US" sz="3600" b="1" dirty="0">
                <a:solidFill>
                  <a:schemeClr val="tx1"/>
                </a:solidFill>
              </a:defRPr>
            </a:lvl1pPr>
          </a:lstStyle>
          <a:p>
            <a:pPr indent="0" marL="0">
              <a:lnSpc>
                <a:spcPct val="92000"/>
              </a:lnSpc>
              <a:buNone/>
            </a:pPr>
            <a:endParaRPr lang="en-US" sz="3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1"/>
                </a:solidFill>
              </a:defRPr>
            </a:lvl1pPr>
          </a:lstStyle>
          <a:p>
            <a:pPr algn="r"/>
            <a:fld id="{F7021451-1387-4CA6-816F-3879F97B5CBC}" type="slidenum">
              <a:rPr b="1"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YAN">
    <p:bg>
      <p:bgPr>
        <a:solidFill>
          <a:srgbClr val="1BBDE3"/>
        </a:solidFill>
      </p:bgPr>
    </p:bg>
    <p:spTree>
      <p:nvGrpSpPr>
        <p:cNvPr id="1" name=""/>
        <p:cNvGrpSpPr/>
        <p:nvPr/>
      </p:nvGrpSpPr>
      <p:grpSpPr>
        <a:xfrm>
          <a:off x="0" y="0"/>
          <a:ext cx="0" cy="0"/>
          <a:chOff x="0" y="0"/>
          <a:chExt cx="0" cy="0"/>
        </a:xfrm>
      </p:grpSpPr>
      <p:sp>
        <p:nvSpPr>
          <p:cNvPr id="2" name="Text 0"/>
          <p:cNvSpPr/>
          <p:nvPr/>
        </p:nvSpPr>
        <p:spPr>
          <a:xfrm>
            <a:off x="548640" y="6400800"/>
            <a:ext cx="5486400" cy="201168"/>
          </a:xfrm>
          <a:prstGeom prst="rect">
            <a:avLst/>
          </a:prstGeom>
          <a:noFill/>
          <a:ln/>
        </p:spPr>
        <p:txBody>
          <a:bodyPr wrap="square" lIns="0" tIns="0" rIns="0" bIns="0" rtlCol="0" anchor="ctr"/>
          <a:lstStyle/>
          <a:p>
            <a:pPr indent="0" marL="0">
              <a:buNone/>
            </a:pPr>
            <a:r>
              <a:rPr lang="en-US" sz="900" b="1" spc="200" kern="0" dirty="0">
                <a:solidFill>
                  <a:schemeClr val="tx1"/>
                </a:solidFill>
              </a:rPr>
              <a:t>MILKY WAY  ·  SPONSORSHIP 2027</a:t>
            </a:r>
            <a:endParaRPr lang="en-US" sz="900" dirty="0"/>
          </a:p>
        </p:txBody>
      </p:sp>
      <p:sp>
        <p:nvSpPr>
          <p:cNvPr id="3" name="Text 1"/>
          <p:cNvSpPr/>
          <p:nvPr>
            <p:ph idx="101" type="title" hasCustomPrompt="1"/>
          </p:nvPr>
        </p:nvSpPr>
        <p:spPr>
          <a:xfrm>
            <a:off x="548640" y="777240"/>
            <a:ext cx="8778240" cy="1371600"/>
          </a:xfrm>
          <a:prstGeom prst="rect">
            <a:avLst/>
          </a:prstGeom>
          <a:noFill/>
          <a:ln/>
        </p:spPr>
        <p:txBody>
          <a:bodyPr wrap="square" rtlCol="0"/>
          <a:lstStyle>
            <a:lvl1pPr indent="0" marL="0">
              <a:lnSpc>
                <a:spcPct val="92000"/>
              </a:lnSpc>
              <a:buNone/>
              <a:defRPr lang="en-US" sz="3600" b="1" dirty="0">
                <a:solidFill>
                  <a:schemeClr val="tx1"/>
                </a:solidFill>
              </a:defRPr>
            </a:lvl1pPr>
          </a:lstStyle>
          <a:p>
            <a:pPr indent="0" marL="0">
              <a:lnSpc>
                <a:spcPct val="92000"/>
              </a:lnSpc>
              <a:buNone/>
            </a:pPr>
            <a:endParaRPr lang="en-US" sz="3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1"/>
                </a:solidFill>
              </a:defRPr>
            </a:lvl1pPr>
          </a:lstStyle>
          <a:p>
            <a:pPr algn="r"/>
            <a:fld id="{F7021451-1387-4CA6-816F-3879F97B5CBC}" type="slidenum">
              <a:rPr b="1"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IME">
    <p:bg>
      <p:bgPr>
        <a:solidFill>
          <a:srgbClr val="ACE635"/>
        </a:solidFill>
      </p:bgPr>
    </p:bg>
    <p:spTree>
      <p:nvGrpSpPr>
        <p:cNvPr id="1" name=""/>
        <p:cNvGrpSpPr/>
        <p:nvPr/>
      </p:nvGrpSpPr>
      <p:grpSpPr>
        <a:xfrm>
          <a:off x="0" y="0"/>
          <a:ext cx="0" cy="0"/>
          <a:chOff x="0" y="0"/>
          <a:chExt cx="0" cy="0"/>
        </a:xfrm>
      </p:grpSpPr>
      <p:sp>
        <p:nvSpPr>
          <p:cNvPr id="2" name="Text 0"/>
          <p:cNvSpPr/>
          <p:nvPr/>
        </p:nvSpPr>
        <p:spPr>
          <a:xfrm>
            <a:off x="548640" y="6400800"/>
            <a:ext cx="5486400" cy="201168"/>
          </a:xfrm>
          <a:prstGeom prst="rect">
            <a:avLst/>
          </a:prstGeom>
          <a:noFill/>
          <a:ln/>
        </p:spPr>
        <p:txBody>
          <a:bodyPr wrap="square" lIns="0" tIns="0" rIns="0" bIns="0" rtlCol="0" anchor="ctr"/>
          <a:lstStyle/>
          <a:p>
            <a:pPr indent="0" marL="0">
              <a:buNone/>
            </a:pPr>
            <a:r>
              <a:rPr lang="en-US" sz="900" b="1" spc="200" kern="0" dirty="0">
                <a:solidFill>
                  <a:schemeClr val="tx1"/>
                </a:solidFill>
              </a:rPr>
              <a:t>MILKY WAY  ·  SPONSORSHIP 2027</a:t>
            </a:r>
            <a:endParaRPr lang="en-US" sz="900" dirty="0"/>
          </a:p>
        </p:txBody>
      </p:sp>
      <p:sp>
        <p:nvSpPr>
          <p:cNvPr id="3" name="Text 1"/>
          <p:cNvSpPr/>
          <p:nvPr>
            <p:ph idx="101" type="title" hasCustomPrompt="1"/>
          </p:nvPr>
        </p:nvSpPr>
        <p:spPr>
          <a:xfrm>
            <a:off x="548640" y="777240"/>
            <a:ext cx="8778240" cy="1371600"/>
          </a:xfrm>
          <a:prstGeom prst="rect">
            <a:avLst/>
          </a:prstGeom>
          <a:noFill/>
          <a:ln/>
        </p:spPr>
        <p:txBody>
          <a:bodyPr wrap="square" rtlCol="0"/>
          <a:lstStyle>
            <a:lvl1pPr indent="0" marL="0">
              <a:lnSpc>
                <a:spcPct val="92000"/>
              </a:lnSpc>
              <a:buNone/>
              <a:defRPr lang="en-US" sz="3600" b="1" dirty="0">
                <a:solidFill>
                  <a:schemeClr val="tx1"/>
                </a:solidFill>
              </a:defRPr>
            </a:lvl1pPr>
          </a:lstStyle>
          <a:p>
            <a:pPr indent="0" marL="0">
              <a:lnSpc>
                <a:spcPct val="92000"/>
              </a:lnSpc>
              <a:buNone/>
            </a:pPr>
            <a:endParaRPr lang="en-US" sz="3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1"/>
                </a:solidFill>
              </a:defRPr>
            </a:lvl1pPr>
          </a:lstStyle>
          <a:p>
            <a:pPr algn="r"/>
            <a:fld id="{F7021451-1387-4CA6-816F-3879F97B5CBC}" type="slidenum">
              <a:rPr b="1"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PER">
    <p:bg>
      <p:bgPr>
        <a:solidFill>
          <a:srgbClr val="F8F5ED"/>
        </a:solidFill>
      </p:bgPr>
    </p:bg>
    <p:spTree>
      <p:nvGrpSpPr>
        <p:cNvPr id="1" name=""/>
        <p:cNvGrpSpPr/>
        <p:nvPr/>
      </p:nvGrpSpPr>
      <p:grpSpPr>
        <a:xfrm>
          <a:off x="0" y="0"/>
          <a:ext cx="0" cy="0"/>
          <a:chOff x="0" y="0"/>
          <a:chExt cx="0" cy="0"/>
        </a:xfrm>
      </p:grpSpPr>
      <p:sp>
        <p:nvSpPr>
          <p:cNvPr id="2" name="Text 0"/>
          <p:cNvSpPr/>
          <p:nvPr/>
        </p:nvSpPr>
        <p:spPr>
          <a:xfrm>
            <a:off x="548640" y="6400800"/>
            <a:ext cx="5486400" cy="201168"/>
          </a:xfrm>
          <a:prstGeom prst="rect">
            <a:avLst/>
          </a:prstGeom>
          <a:noFill/>
          <a:ln/>
        </p:spPr>
        <p:txBody>
          <a:bodyPr wrap="square" lIns="0" tIns="0" rIns="0" bIns="0" rtlCol="0" anchor="ctr"/>
          <a:lstStyle/>
          <a:p>
            <a:pPr indent="0" marL="0">
              <a:buNone/>
            </a:pPr>
            <a:r>
              <a:rPr lang="en-US" sz="900" b="1" spc="200" kern="0" dirty="0">
                <a:solidFill>
                  <a:schemeClr val="tx1"/>
                </a:solidFill>
              </a:rPr>
              <a:t>MILKY WAY  ·  SPONSORSHIP 2027</a:t>
            </a:r>
            <a:endParaRPr lang="en-US" sz="900" dirty="0"/>
          </a:p>
        </p:txBody>
      </p:sp>
      <p:sp>
        <p:nvSpPr>
          <p:cNvPr id="3" name="Text 1"/>
          <p:cNvSpPr/>
          <p:nvPr>
            <p:ph idx="101" type="title" hasCustomPrompt="1"/>
          </p:nvPr>
        </p:nvSpPr>
        <p:spPr>
          <a:xfrm>
            <a:off x="548640" y="777240"/>
            <a:ext cx="8778240" cy="1371600"/>
          </a:xfrm>
          <a:prstGeom prst="rect">
            <a:avLst/>
          </a:prstGeom>
          <a:noFill/>
          <a:ln/>
        </p:spPr>
        <p:txBody>
          <a:bodyPr wrap="square" rtlCol="0"/>
          <a:lstStyle>
            <a:lvl1pPr indent="0" marL="0">
              <a:lnSpc>
                <a:spcPct val="92000"/>
              </a:lnSpc>
              <a:buNone/>
              <a:defRPr lang="en-US" sz="3600" b="1" dirty="0">
                <a:solidFill>
                  <a:schemeClr val="tx1"/>
                </a:solidFill>
              </a:defRPr>
            </a:lvl1pPr>
          </a:lstStyle>
          <a:p>
            <a:pPr indent="0" marL="0">
              <a:lnSpc>
                <a:spcPct val="92000"/>
              </a:lnSpc>
              <a:buNone/>
            </a:pPr>
            <a:endParaRPr lang="en-US" sz="3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1"/>
                </a:solidFill>
              </a:defRPr>
            </a:lvl1pPr>
          </a:lstStyle>
          <a:p>
            <a:pPr algn="r"/>
            <a:fld id="{F7021451-1387-4CA6-816F-3879F97B5CBC}" type="slidenum">
              <a:rPr b="1" lang="en-US"/>
              <a:t>1011</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1-6.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3.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7.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image" Target="../media/image-5-2.png"/><Relationship Id="rId7" Type="http://schemas.openxmlformats.org/officeDocument/2006/relationships/image" Target="../media/image-5-2.png"/><Relationship Id="rId8" Type="http://schemas.openxmlformats.org/officeDocument/2006/relationships/image" Target="../media/image-5-2.png"/><Relationship Id="rId9" Type="http://schemas.openxmlformats.org/officeDocument/2006/relationships/slideLayout" Target="../slideLayouts/slideLayout4.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5.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hyperlink" Target="https://www.youtube.com/watch?v=N5Crw6YCkSU" TargetMode="External"/><Relationship Id="rId5" Type="http://schemas.openxmlformats.org/officeDocument/2006/relationships/hyperlink" Target="https://www.youtube.com/watch?v=N5Crw6YCkSU" TargetMode="External"/><Relationship Id="rId7" Type="http://schemas.openxmlformats.org/officeDocument/2006/relationships/hyperlink" Target="https://www.youtube.com/watch?v=N5Crw6YCkSU" TargetMode="External"/><Relationship Id="rId8" Type="http://schemas.openxmlformats.org/officeDocument/2006/relationships/hyperlink" Target="https://www.youtube.com/watch?v=N5Crw6YCkSU" TargetMode="External"/><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3.jpg"/><Relationship Id="rId6" Type="http://schemas.openxmlformats.org/officeDocument/2006/relationships/image" Target="../media/image-8-4.png"/><Relationship Id="rId9" Type="http://schemas.openxmlformats.org/officeDocument/2006/relationships/slideLayout" Target="../slideLayouts/slideLayout4.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slideLayout" Target="../slideLayouts/slideLayout8.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8.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image" Target="../media/image-11-7.jpg"/><Relationship Id="rId8" Type="http://schemas.openxmlformats.org/officeDocument/2006/relationships/image" Target="../media/image-11-8.jpg"/><Relationship Id="rId9" Type="http://schemas.openxmlformats.org/officeDocument/2006/relationships/image" Target="../media/image-11-9.png"/><Relationship Id="rId10" Type="http://schemas.openxmlformats.org/officeDocument/2006/relationships/slideLayout" Target="../slideLayouts/slideLayout6.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slideLayout" Target="../slideLayouts/slideLayout6.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6.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5" Type="http://schemas.openxmlformats.org/officeDocument/2006/relationships/hyperlink" Target="https://www.instagram.com/reel/Dcqmuh3BWI2/" TargetMode="External"/><Relationship Id="rId7" Type="http://schemas.openxmlformats.org/officeDocument/2006/relationships/hyperlink" Target="https://www.instagram.com/reel/Db5s0U4POgP/" TargetMode="External"/><Relationship Id="rId9" Type="http://schemas.openxmlformats.org/officeDocument/2006/relationships/hyperlink" Target="https://www.instagram.com/reel/Db3JNfgqaF2/" TargetMode="External"/><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jpg"/><Relationship Id="rId6" Type="http://schemas.openxmlformats.org/officeDocument/2006/relationships/image" Target="../media/image-14-5.jpg"/><Relationship Id="rId8" Type="http://schemas.openxmlformats.org/officeDocument/2006/relationships/image" Target="../media/image-14-6.jpg"/><Relationship Id="rId10" Type="http://schemas.openxmlformats.org/officeDocument/2006/relationships/slideLayout" Target="../slideLayouts/slideLayout9.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image" Target="../media/image-15-15.png"/><Relationship Id="rId16" Type="http://schemas.openxmlformats.org/officeDocument/2006/relationships/image" Target="../media/image-15-16.png"/><Relationship Id="rId17" Type="http://schemas.openxmlformats.org/officeDocument/2006/relationships/image" Target="../media/image-15-17.png"/><Relationship Id="rId18" Type="http://schemas.openxmlformats.org/officeDocument/2006/relationships/image" Target="../media/image-15-18.png"/><Relationship Id="rId19" Type="http://schemas.openxmlformats.org/officeDocument/2006/relationships/image" Target="../media/image-15-19.png"/><Relationship Id="rId20" Type="http://schemas.openxmlformats.org/officeDocument/2006/relationships/image" Target="../media/image-15-20.png"/><Relationship Id="rId21" Type="http://schemas.openxmlformats.org/officeDocument/2006/relationships/image" Target="../media/image-15-21.png"/><Relationship Id="rId22" Type="http://schemas.openxmlformats.org/officeDocument/2006/relationships/image" Target="../media/image-15-22.png"/><Relationship Id="rId23" Type="http://schemas.openxmlformats.org/officeDocument/2006/relationships/image" Target="../media/image-15-23.png"/><Relationship Id="rId24" Type="http://schemas.openxmlformats.org/officeDocument/2006/relationships/image" Target="../media/image-15-24.png"/><Relationship Id="rId25" Type="http://schemas.openxmlformats.org/officeDocument/2006/relationships/image" Target="../media/image-15-25.png"/><Relationship Id="rId26" Type="http://schemas.openxmlformats.org/officeDocument/2006/relationships/image" Target="../media/image-15-26.png"/><Relationship Id="rId27" Type="http://schemas.openxmlformats.org/officeDocument/2006/relationships/slideLayout" Target="../slideLayouts/slideLayout4.xml"/><Relationship Id="rId2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mailto:milkyway@mastersunion.org?subject=Milky%20Way%202027%20%E2%80%94%20Sponsorship" TargetMode="External"/><Relationship Id="rId2" Type="http://schemas.openxmlformats.org/officeDocument/2006/relationships/hyperlink" Target="mailto:milkyway@mastersunion.org?subject=Milky%20Way%202027%20%E2%80%94%20Sponsorship" TargetMode="External"/><Relationship Id="rId3" Type="http://schemas.openxmlformats.org/officeDocument/2006/relationships/image" Target="../media/image-19-1.png"/><Relationship Id="rId4" Type="http://schemas.openxmlformats.org/officeDocument/2006/relationships/slideLayout" Target="../slideLayouts/slideLayout10.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lanet" descr="/Users/xadxtyax/Library/Application Support/Claude/scratch-workspaces/7159731d-a44a-4097-bf70-afdcfed87503/0bd4f3ce-9e23-4993-bb7f-0a40b4577418/scratch-2026-09-29-b4af05/deck/.build/assets/ringed-planet-2-purple-1600.png">    </p:cNvPr>
          <p:cNvPicPr>
            <a:picLocks noChangeAspect="1"/>
          </p:cNvPicPr>
          <p:nvPr/>
        </p:nvPicPr>
        <p:blipFill>
          <a:blip r:embed="rId1"/>
          <a:stretch>
            <a:fillRect/>
          </a:stretch>
        </p:blipFill>
        <p:spPr>
          <a:xfrm>
            <a:off x="7635240" y="-868680"/>
            <a:ext cx="5120640" cy="4077310"/>
          </a:xfrm>
          <a:prstGeom prst="rect">
            <a:avLst/>
          </a:prstGeom>
        </p:spPr>
      </p:pic>
      <p:pic>
        <p:nvPicPr>
          <p:cNvPr id="3" name="Masters' Union University" descr="Masters' Union University">    </p:cNvPr>
          <p:cNvPicPr>
            <a:picLocks noChangeAspect="1"/>
          </p:cNvPicPr>
          <p:nvPr/>
        </p:nvPicPr>
        <p:blipFill>
          <a:blip r:embed="rId2"/>
          <a:stretch>
            <a:fillRect/>
          </a:stretch>
        </p:blipFill>
        <p:spPr>
          <a:xfrm>
            <a:off x="1417320" y="822960"/>
            <a:ext cx="3108960" cy="650291"/>
          </a:xfrm>
          <a:prstGeom prst="rect">
            <a:avLst/>
          </a:prstGeom>
        </p:spPr>
      </p:pic>
      <p:sp>
        <p:nvSpPr>
          <p:cNvPr id="4" name="PRESENTS"/>
          <p:cNvSpPr txBox="1"/>
          <p:nvPr/>
        </p:nvSpPr>
        <p:spPr>
          <a:xfrm>
            <a:off x="777240" y="1572768"/>
            <a:ext cx="4389120" cy="274320"/>
          </a:xfrm>
          <a:prstGeom prst="rect">
            <a:avLst/>
          </a:prstGeom>
          <a:noFill/>
          <a:ln/>
        </p:spPr>
        <p:txBody>
          <a:bodyPr wrap="square" lIns="0" tIns="0" rIns="0" bIns="0" rtlCol="0" anchor="t"/>
          <a:lstStyle/>
          <a:p>
            <a:pPr algn="ctr" indent="0" marL="0">
              <a:lnSpc>
                <a:spcPct val="100000"/>
              </a:lnSpc>
              <a:buNone/>
            </a:pPr>
            <a:r>
              <a:rPr lang="en-US" sz="1100" b="1" spc="400" kern="0" dirty="0">
                <a:solidFill>
                  <a:schemeClr val="bg1"/>
                </a:solidFill>
              </a:rPr>
              <a:t>PRESENTS</a:t>
            </a:r>
            <a:endParaRPr lang="en-US" sz="1100" dirty="0"/>
          </a:p>
        </p:txBody>
      </p:sp>
      <p:pic>
        <p:nvPicPr>
          <p:cNvPr id="5" name="Milky Way" descr="Milky Way">    </p:cNvPr>
          <p:cNvPicPr>
            <a:picLocks noChangeAspect="1"/>
          </p:cNvPicPr>
          <p:nvPr/>
        </p:nvPicPr>
        <p:blipFill>
          <a:blip r:embed="rId3"/>
          <a:stretch>
            <a:fillRect/>
          </a:stretch>
        </p:blipFill>
        <p:spPr>
          <a:xfrm>
            <a:off x="777240" y="2011680"/>
            <a:ext cx="4389120" cy="2802767"/>
          </a:xfrm>
          <a:prstGeom prst="rect">
            <a:avLst/>
          </a:prstGeom>
        </p:spPr>
      </p:pic>
      <p:sp>
        <p:nvSpPr>
          <p:cNvPr id="6" name="Descriptor"/>
          <p:cNvSpPr txBox="1"/>
          <p:nvPr/>
        </p:nvSpPr>
        <p:spPr>
          <a:xfrm>
            <a:off x="548640" y="4997327"/>
            <a:ext cx="4846320" cy="411480"/>
          </a:xfrm>
          <a:prstGeom prst="rect">
            <a:avLst/>
          </a:prstGeom>
          <a:noFill/>
          <a:ln/>
        </p:spPr>
        <p:txBody>
          <a:bodyPr wrap="square" lIns="0" tIns="0" rIns="0" bIns="0" rtlCol="0" anchor="t"/>
          <a:lstStyle/>
          <a:p>
            <a:pPr algn="ctr" indent="0" marL="0">
              <a:lnSpc>
                <a:spcPct val="100000"/>
              </a:lnSpc>
              <a:buNone/>
            </a:pPr>
            <a:r>
              <a:rPr lang="en-US" sz="1700" b="1" dirty="0">
                <a:solidFill>
                  <a:schemeClr val="bg1"/>
                </a:solidFill>
              </a:rPr>
              <a:t>A Masters' Union University Fest</a:t>
            </a:r>
            <a:endParaRPr lang="en-US" sz="1700" dirty="0"/>
          </a:p>
        </p:txBody>
      </p:sp>
      <p:sp>
        <p:nvSpPr>
          <p:cNvPr id="7" name="Line"/>
          <p:cNvSpPr txBox="1"/>
          <p:nvPr/>
        </p:nvSpPr>
        <p:spPr>
          <a:xfrm>
            <a:off x="5989320" y="3246120"/>
            <a:ext cx="5669280" cy="1371600"/>
          </a:xfrm>
          <a:prstGeom prst="rect">
            <a:avLst/>
          </a:prstGeom>
          <a:noFill/>
          <a:ln/>
        </p:spPr>
        <p:txBody>
          <a:bodyPr wrap="square" lIns="0" tIns="0" rIns="0" bIns="0" rtlCol="0" anchor="t"/>
          <a:lstStyle/>
          <a:p>
            <a:pPr algn="l" indent="0" marL="0">
              <a:lnSpc>
                <a:spcPct val="92000"/>
              </a:lnSpc>
              <a:buNone/>
            </a:pPr>
            <a:r>
              <a:rPr lang="en-US" sz="3600" b="1" dirty="0">
                <a:solidFill>
                  <a:schemeClr val="bg1"/>
                </a:solidFill>
              </a:rPr>
              <a:t>A Fest Where the Universe Comes Alive</a:t>
            </a:r>
            <a:endParaRPr lang="en-US" sz="3600" dirty="0"/>
          </a:p>
        </p:txBody>
      </p:sp>
      <p:sp>
        <p:nvSpPr>
          <p:cNvPr id="8" name="Dates"/>
          <p:cNvSpPr txBox="1"/>
          <p:nvPr/>
        </p:nvSpPr>
        <p:spPr>
          <a:xfrm>
            <a:off x="5989320" y="4709160"/>
            <a:ext cx="5669280" cy="411480"/>
          </a:xfrm>
          <a:prstGeom prst="rect">
            <a:avLst/>
          </a:prstGeom>
          <a:noFill/>
          <a:ln/>
        </p:spPr>
        <p:txBody>
          <a:bodyPr wrap="square" lIns="0" tIns="0" rIns="0" bIns="0" rtlCol="0" anchor="t"/>
          <a:lstStyle/>
          <a:p>
            <a:pPr algn="l" indent="0" marL="0">
              <a:lnSpc>
                <a:spcPct val="100000"/>
              </a:lnSpc>
              <a:buNone/>
            </a:pPr>
            <a:r>
              <a:rPr lang="en-US" sz="2000" b="1" dirty="0">
                <a:solidFill>
                  <a:schemeClr val="accent1"/>
                </a:solidFill>
              </a:rPr>
              <a:t>18th–21st February 2027</a:t>
            </a:r>
            <a:endParaRPr lang="en-US" sz="2000" dirty="0"/>
          </a:p>
        </p:txBody>
      </p:sp>
      <p:sp>
        <p:nvSpPr>
          <p:cNvPr id="9" name="Places"/>
          <p:cNvSpPr txBox="1"/>
          <p:nvPr/>
        </p:nvSpPr>
        <p:spPr>
          <a:xfrm>
            <a:off x="5989320" y="5138928"/>
            <a:ext cx="5669280" cy="640080"/>
          </a:xfrm>
          <a:prstGeom prst="rect">
            <a:avLst/>
          </a:prstGeom>
          <a:noFill/>
          <a:ln/>
        </p:spPr>
        <p:txBody>
          <a:bodyPr wrap="square" lIns="0" tIns="0" rIns="0" bIns="0" rtlCol="0" anchor="t"/>
          <a:lstStyle/>
          <a:p>
            <a:pPr algn="l" indent="0" marL="0">
              <a:lnSpc>
                <a:spcPct val="100000"/>
              </a:lnSpc>
              <a:buNone/>
            </a:pPr>
            <a:r>
              <a:rPr lang="en-US" sz="1300" dirty="0">
                <a:solidFill>
                  <a:schemeClr val="bg2"/>
                </a:solidFill>
              </a:rPr>
              <a:t>Masters' Union University, Gurugram  ·  Yashobhoomi Convention Centre, Delhi</a:t>
            </a:r>
            <a:endParaRPr lang="en-US" sz="1300" dirty="0"/>
          </a:p>
        </p:txBody>
      </p:sp>
      <p:sp>
        <p:nvSpPr>
          <p:cNvPr id="10" name="Label"/>
          <p:cNvSpPr txBox="1"/>
          <p:nvPr/>
        </p:nvSpPr>
        <p:spPr>
          <a:xfrm>
            <a:off x="5989320" y="6053328"/>
            <a:ext cx="5669280" cy="274320"/>
          </a:xfrm>
          <a:prstGeom prst="rect">
            <a:avLst/>
          </a:prstGeom>
          <a:noFill/>
          <a:ln/>
        </p:spPr>
        <p:txBody>
          <a:bodyPr wrap="square" lIns="0" tIns="0" rIns="0" bIns="0" rtlCol="0" anchor="t"/>
          <a:lstStyle/>
          <a:p>
            <a:pPr algn="l" indent="0" marL="0">
              <a:lnSpc>
                <a:spcPct val="100000"/>
              </a:lnSpc>
              <a:buNone/>
            </a:pPr>
            <a:r>
              <a:rPr lang="en-US" sz="1100" b="1" spc="300" kern="0" dirty="0">
                <a:solidFill>
                  <a:schemeClr val="accent1"/>
                </a:solidFill>
              </a:rPr>
              <a:t>SPONSORSHIP 2027</a:t>
            </a:r>
            <a:endParaRPr lang="en-US" sz="1100" dirty="0"/>
          </a:p>
        </p:txBody>
      </p:sp>
      <p:pic>
        <p:nvPicPr>
          <p:cNvPr id="11" name="Image" descr="/Users/xadxtyax/Library/Application Support/Claude/scratch-workspaces/7159731d-a44a-4097-bf70-afdcfed87503/0bd4f3ce-9e23-4993-bb7f-0a40b4577418/scratch-2026-09-29-b4af05/deck/.build/assets/sparkle-yellow-200.png">    </p:cNvPr>
          <p:cNvPicPr>
            <a:picLocks noChangeAspect="1"/>
          </p:cNvPicPr>
          <p:nvPr/>
        </p:nvPicPr>
        <p:blipFill>
          <a:blip r:embed="rId4"/>
          <a:stretch>
            <a:fillRect/>
          </a:stretch>
        </p:blipFill>
        <p:spPr>
          <a:xfrm>
            <a:off x="5440680" y="914400"/>
            <a:ext cx="201168" cy="212232"/>
          </a:xfrm>
          <a:prstGeom prst="rect">
            <a:avLst/>
          </a:prstGeom>
        </p:spPr>
      </p:pic>
      <p:pic>
        <p:nvPicPr>
          <p:cNvPr id="12" name="Image" descr="/Users/xadxtyax/Library/Application Support/Claude/scratch-workspaces/7159731d-a44a-4097-bf70-afdcfed87503/0bd4f3ce-9e23-4993-bb7f-0a40b4577418/scratch-2026-09-29-b4af05/deck/.build/assets/sparkle-yellow-200.png">    </p:cNvPr>
          <p:cNvPicPr>
            <a:picLocks noChangeAspect="1"/>
          </p:cNvPicPr>
          <p:nvPr/>
        </p:nvPicPr>
        <p:blipFill>
          <a:blip r:embed="rId5"/>
          <a:stretch>
            <a:fillRect/>
          </a:stretch>
        </p:blipFill>
        <p:spPr>
          <a:xfrm>
            <a:off x="11384280" y="4206240"/>
            <a:ext cx="146304" cy="154351"/>
          </a:xfrm>
          <a:prstGeom prst="rect">
            <a:avLst/>
          </a:prstGeom>
        </p:spPr>
      </p:pic>
      <p:pic>
        <p:nvPicPr>
          <p:cNvPr id="13" name="Image" descr="/Users/xadxtyax/Library/Application Support/Claude/scratch-workspaces/7159731d-a44a-4097-bf70-afdcfed87503/0bd4f3ce-9e23-4993-bb7f-0a40b4577418/scratch-2026-09-29-b4af05/deck/.build/assets/sparkle-paper-200.png">    </p:cNvPr>
          <p:cNvPicPr>
            <a:picLocks noChangeAspect="1"/>
          </p:cNvPicPr>
          <p:nvPr/>
        </p:nvPicPr>
        <p:blipFill>
          <a:blip r:embed="rId6"/>
          <a:stretch>
            <a:fillRect/>
          </a:stretch>
        </p:blipFill>
        <p:spPr>
          <a:xfrm>
            <a:off x="6492240" y="2331720"/>
            <a:ext cx="128016" cy="135057"/>
          </a:xfrm>
          <a:prstGeom prst="rect">
            <a:avLst/>
          </a:prstGeom>
        </p:spPr>
      </p:pic>
      <p:pic>
        <p:nvPicPr>
          <p:cNvPr id="14" name="Image" descr="/Users/xadxtyax/Library/Application Support/Claude/scratch-workspaces/7159731d-a44a-4097-bf70-afdcfed87503/0bd4f3ce-9e23-4993-bb7f-0a40b4577418/scratch-2026-09-29-b4af05/deck/.build/assets/sparkle-paper-200.png">    </p:cNvPr>
          <p:cNvPicPr>
            <a:picLocks noChangeAspect="1"/>
          </p:cNvPicPr>
          <p:nvPr/>
        </p:nvPicPr>
        <p:blipFill>
          <a:blip r:embed="rId7"/>
          <a:stretch>
            <a:fillRect/>
          </a:stretch>
        </p:blipFill>
        <p:spPr>
          <a:xfrm>
            <a:off x="2194560" y="5943600"/>
            <a:ext cx="109728" cy="1157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1234440"/>
            <a:ext cx="9509760" cy="3108960"/>
          </a:xfrm>
          <a:prstGeom prst="rect">
            <a:avLst/>
          </a:prstGeom>
          <a:noFill/>
          <a:ln/>
        </p:spPr>
        <p:txBody>
          <a:bodyPr wrap="square" lIns="0" tIns="0" rIns="0" bIns="0" rtlCol="0" anchor="t"/>
          <a:lstStyle/>
          <a:p>
            <a:pPr indent="0" marL="0">
              <a:lnSpc>
                <a:spcPct val="92000"/>
              </a:lnSpc>
              <a:buNone/>
            </a:pPr>
            <a:r>
              <a:rPr lang="en-US" sz="6600" b="1" dirty="0">
                <a:solidFill>
                  <a:schemeClr val="accent1"/>
                </a:solidFill>
              </a:rPr>
              <a:t>1L+</a:t>
            </a:r>
            <a:pPr indent="0" marL="0">
              <a:lnSpc>
                <a:spcPct val="92000"/>
              </a:lnSpc>
              <a:buNone/>
            </a:pPr>
            <a:r>
              <a:rPr lang="en-US" sz="6600" b="1" dirty="0">
                <a:solidFill>
                  <a:schemeClr val="bg1"/>
                </a:solidFill>
              </a:rPr>
              <a:t> GenZs,</a:t>
            </a:r>
            <a:endParaRPr lang="en-US" sz="6600" dirty="0"/>
          </a:p>
          <a:p>
            <a:pPr indent="0" marL="0">
              <a:lnSpc>
                <a:spcPct val="92000"/>
              </a:lnSpc>
              <a:buNone/>
            </a:pPr>
            <a:r>
              <a:rPr lang="en-US" sz="6600" b="1" dirty="0">
                <a:solidFill>
                  <a:schemeClr val="bg1"/>
                </a:solidFill>
              </a:rPr>
              <a:t>Under One Sky,</a:t>
            </a:r>
            <a:endParaRPr lang="en-US" sz="6600" dirty="0"/>
          </a:p>
          <a:p>
            <a:pPr indent="0" marL="0">
              <a:lnSpc>
                <a:spcPct val="92000"/>
              </a:lnSpc>
              <a:buNone/>
            </a:pPr>
            <a:r>
              <a:rPr lang="en-US" sz="6600" b="1" dirty="0">
                <a:solidFill>
                  <a:schemeClr val="accent1"/>
                </a:solidFill>
              </a:rPr>
              <a:t>And You Light it Up.</a:t>
            </a:r>
            <a:endParaRPr lang="en-US" sz="6600" dirty="0"/>
          </a:p>
        </p:txBody>
      </p:sp>
      <p:pic>
        <p:nvPicPr>
          <p:cNvPr id="3" name="Comet" descr="/Users/xadxtyax/Library/Application Support/Claude/scratch-workspaces/7159731d-a44a-4097-bf70-afdcfed87503/0bd4f3ce-9e23-4993-bb7f-0a40b4577418/scratch-2026-09-29-b4af05/deck/.build/assets/comet-1-yellow-1200.png">    </p:cNvPr>
          <p:cNvPicPr>
            <a:picLocks noChangeAspect="1"/>
          </p:cNvPicPr>
          <p:nvPr/>
        </p:nvPicPr>
        <p:blipFill>
          <a:blip r:embed="rId1"/>
          <a:stretch>
            <a:fillRect/>
          </a:stretch>
        </p:blipFill>
        <p:spPr>
          <a:xfrm>
            <a:off x="8869680" y="2103120"/>
            <a:ext cx="2651760" cy="2152345"/>
          </a:xfrm>
          <a:prstGeom prst="rect">
            <a:avLst/>
          </a:prstGeom>
        </p:spPr>
      </p:pic>
      <p:pic>
        <p:nvPicPr>
          <p:cNvPr id="4" name="Pin" descr="/Users/xadxtyax/Library/Application Support/Claude/scratch-workspaces/7159731d-a44a-4097-bf70-afdcfed87503/0bd4f3ce-9e23-4993-bb7f-0a40b4577418/scratch-2026-09-29-b4af05/deck/.build/assets/location-vermilion-256.png">    </p:cNvPr>
          <p:cNvPicPr>
            <a:picLocks noChangeAspect="1"/>
          </p:cNvPicPr>
          <p:nvPr/>
        </p:nvPicPr>
        <p:blipFill>
          <a:blip r:embed="rId2"/>
          <a:stretch>
            <a:fillRect/>
          </a:stretch>
        </p:blipFill>
        <p:spPr>
          <a:xfrm>
            <a:off x="548640" y="5074920"/>
            <a:ext cx="384048" cy="384048"/>
          </a:xfrm>
          <a:prstGeom prst="rect">
            <a:avLst/>
          </a:prstGeom>
        </p:spPr>
      </p:pic>
      <p:sp>
        <p:nvSpPr>
          <p:cNvPr id="5" name="LANDING AT"/>
          <p:cNvSpPr txBox="1"/>
          <p:nvPr/>
        </p:nvSpPr>
        <p:spPr>
          <a:xfrm>
            <a:off x="1097280" y="4983480"/>
            <a:ext cx="5486400" cy="274320"/>
          </a:xfrm>
          <a:prstGeom prst="rect">
            <a:avLst/>
          </a:prstGeom>
          <a:noFill/>
          <a:ln/>
        </p:spPr>
        <p:txBody>
          <a:bodyPr wrap="square" lIns="0" tIns="0" rIns="0" bIns="0" rtlCol="0" anchor="t"/>
          <a:lstStyle/>
          <a:p>
            <a:pPr algn="l" indent="0" marL="0">
              <a:lnSpc>
                <a:spcPct val="100000"/>
              </a:lnSpc>
              <a:buNone/>
            </a:pPr>
            <a:r>
              <a:rPr lang="en-US" sz="1100" b="1" spc="300" kern="0" dirty="0">
                <a:solidFill>
                  <a:schemeClr val="bg1"/>
                </a:solidFill>
              </a:rPr>
              <a:t>LANDING AT</a:t>
            </a:r>
            <a:endParaRPr lang="en-US" sz="1100" dirty="0"/>
          </a:p>
        </p:txBody>
      </p:sp>
      <p:sp>
        <p:nvSpPr>
          <p:cNvPr id="6" name="YASHOBHOOMI, DELHI"/>
          <p:cNvSpPr txBox="1"/>
          <p:nvPr/>
        </p:nvSpPr>
        <p:spPr>
          <a:xfrm>
            <a:off x="1097280" y="5285232"/>
            <a:ext cx="5486400" cy="365760"/>
          </a:xfrm>
          <a:prstGeom prst="rect">
            <a:avLst/>
          </a:prstGeom>
          <a:noFill/>
          <a:ln/>
        </p:spPr>
        <p:txBody>
          <a:bodyPr wrap="square" lIns="0" tIns="0" rIns="0" bIns="0" rtlCol="0" anchor="t"/>
          <a:lstStyle/>
          <a:p>
            <a:pPr algn="l" indent="0" marL="0">
              <a:lnSpc>
                <a:spcPct val="100000"/>
              </a:lnSpc>
              <a:buNone/>
            </a:pPr>
            <a:r>
              <a:rPr lang="en-US" sz="1800" b="1" spc="200" kern="0" dirty="0">
                <a:solidFill>
                  <a:schemeClr val="accent1"/>
                </a:solidFill>
              </a:rPr>
              <a:t>YASHOBHOOMI, DELHI</a:t>
            </a:r>
            <a:endParaRPr lang="en-US" sz="1800" dirty="0"/>
          </a:p>
        </p:txBody>
      </p:sp>
      <p:pic>
        <p:nvPicPr>
          <p:cNvPr id="7" name="Image" descr="/Users/xadxtyax/Library/Application Support/Claude/scratch-workspaces/7159731d-a44a-4097-bf70-afdcfed87503/0bd4f3ce-9e23-4993-bb7f-0a40b4577418/scratch-2026-09-29-b4af05/deck/.build/assets/sparkle-paper-200.png">    </p:cNvPr>
          <p:cNvPicPr>
            <a:picLocks noChangeAspect="1"/>
          </p:cNvPicPr>
          <p:nvPr/>
        </p:nvPicPr>
        <p:blipFill>
          <a:blip r:embed="rId3"/>
          <a:stretch>
            <a:fillRect/>
          </a:stretch>
        </p:blipFill>
        <p:spPr>
          <a:xfrm>
            <a:off x="10607040" y="731520"/>
            <a:ext cx="164592" cy="173645"/>
          </a:xfrm>
          <a:prstGeom prst="rect">
            <a:avLst/>
          </a:prstGeom>
        </p:spPr>
      </p:pic>
      <p:pic>
        <p:nvPicPr>
          <p:cNvPr id="8" name="Image" descr="/Users/xadxtyax/Library/Application Support/Claude/scratch-workspaces/7159731d-a44a-4097-bf70-afdcfed87503/0bd4f3ce-9e23-4993-bb7f-0a40b4577418/scratch-2026-09-29-b4af05/deck/.build/assets/sparkle-paper-200.png">    </p:cNvPr>
          <p:cNvPicPr>
            <a:picLocks noChangeAspect="1"/>
          </p:cNvPicPr>
          <p:nvPr/>
        </p:nvPicPr>
        <p:blipFill>
          <a:blip r:embed="rId4"/>
          <a:stretch>
            <a:fillRect/>
          </a:stretch>
        </p:blipFill>
        <p:spPr>
          <a:xfrm>
            <a:off x="7680960" y="1005840"/>
            <a:ext cx="109728" cy="115763"/>
          </a:xfrm>
          <a:prstGeom prst="rect">
            <a:avLst/>
          </a:prstGeom>
        </p:spPr>
      </p:pic>
      <p:pic>
        <p:nvPicPr>
          <p:cNvPr id="9" name="Image" descr="/Users/xadxtyax/Library/Application Support/Claude/scratch-workspaces/7159731d-a44a-4097-bf70-afdcfed87503/0bd4f3ce-9e23-4993-bb7f-0a40b4577418/scratch-2026-09-29-b4af05/deck/.build/assets/sparkle-paper-200.png">    </p:cNvPr>
          <p:cNvPicPr>
            <a:picLocks noChangeAspect="1"/>
          </p:cNvPicPr>
          <p:nvPr/>
        </p:nvPicPr>
        <p:blipFill>
          <a:blip r:embed="rId5"/>
          <a:stretch>
            <a:fillRect/>
          </a:stretch>
        </p:blipFill>
        <p:spPr>
          <a:xfrm>
            <a:off x="11247120" y="4937760"/>
            <a:ext cx="128016" cy="135057"/>
          </a:xfrm>
          <a:prstGeom prst="rect">
            <a:avLst/>
          </a:prstGeom>
        </p:spPr>
      </p:pic>
      <p:pic>
        <p:nvPicPr>
          <p:cNvPr id="10" name="Image" descr="/Users/xadxtyax/Library/Application Support/Claude/scratch-workspaces/7159731d-a44a-4097-bf70-afdcfed87503/0bd4f3ce-9e23-4993-bb7f-0a40b4577418/scratch-2026-09-29-b4af05/deck/.build/assets/sparkle-paper-200.png">    </p:cNvPr>
          <p:cNvPicPr>
            <a:picLocks noChangeAspect="1"/>
          </p:cNvPicPr>
          <p:nvPr/>
        </p:nvPicPr>
        <p:blipFill>
          <a:blip r:embed="rId6"/>
          <a:stretch>
            <a:fillRect/>
          </a:stretch>
        </p:blipFill>
        <p:spPr>
          <a:xfrm>
            <a:off x="6949440" y="5577840"/>
            <a:ext cx="91440" cy="96469"/>
          </a:xfrm>
          <a:prstGeom prst="rect">
            <a:avLst/>
          </a:prstGeom>
        </p:spPr>
      </p:pic>
      <p:pic>
        <p:nvPicPr>
          <p:cNvPr id="11" name="Image" descr="/Users/xadxtyax/Library/Application Support/Claude/scratch-workspaces/7159731d-a44a-4097-bf70-afdcfed87503/0bd4f3ce-9e23-4993-bb7f-0a40b4577418/scratch-2026-09-29-b4af05/deck/.build/assets/sparkle-paper-200.png">    </p:cNvPr>
          <p:cNvPicPr>
            <a:picLocks noChangeAspect="1"/>
          </p:cNvPicPr>
          <p:nvPr/>
        </p:nvPicPr>
        <p:blipFill>
          <a:blip r:embed="rId7"/>
          <a:stretch>
            <a:fillRect/>
          </a:stretch>
        </p:blipFill>
        <p:spPr>
          <a:xfrm>
            <a:off x="9966960" y="5943600"/>
            <a:ext cx="146304" cy="154351"/>
          </a:xfrm>
          <a:prstGeom prst="rect">
            <a:avLst/>
          </a:prstGeom>
        </p:spPr>
      </p:pic>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bg1"/>
                </a:solidFill>
              </a:rPr>
              <a:t>We are Building Asia's Largest College Festival, and We Want You to Shape it With Us.</a:t>
            </a:r>
            <a:endParaRPr lang="en-US" sz="3600" dirty="0"/>
          </a:p>
        </p:txBody>
      </p:sp>
      <p:sp>
        <p:nvSpPr>
          <p:cNvPr id="3" name="MASTERS' UNION UNIVERSITY'S CULTURAL FES"/>
          <p:cNvSpPr txBox="1"/>
          <p:nvPr/>
        </p:nvSpPr>
        <p:spPr>
          <a:xfrm>
            <a:off x="548640" y="457200"/>
            <a:ext cx="8229600" cy="274320"/>
          </a:xfrm>
          <a:prstGeom prst="rect">
            <a:avLst/>
          </a:prstGeom>
          <a:noFill/>
          <a:ln/>
        </p:spPr>
        <p:txBody>
          <a:bodyPr wrap="square" lIns="0" tIns="0" rIns="0" bIns="0" rtlCol="0" anchor="t"/>
          <a:lstStyle/>
          <a:p>
            <a:pPr algn="l" indent="0" marL="0">
              <a:lnSpc>
                <a:spcPct val="100000"/>
              </a:lnSpc>
              <a:buNone/>
            </a:pPr>
            <a:r>
              <a:rPr lang="en-US" sz="1100" b="1" spc="250" kern="0" dirty="0">
                <a:solidFill>
                  <a:schemeClr val="accent1"/>
                </a:solidFill>
              </a:rPr>
              <a:t>MASTERS' UNION UNIVERSITY'S CULTURAL FEST</a:t>
            </a:r>
            <a:endParaRPr lang="en-US" sz="1100" dirty="0"/>
          </a:p>
        </p:txBody>
      </p:sp>
      <p:pic>
        <p:nvPicPr>
          <p:cNvPr id="4" name="Galaxy" descr="/Users/xadxtyax/Library/Application Support/Claude/scratch-workspaces/7159731d-a44a-4097-bf70-afdcfed87503/0bd4f3ce-9e23-4993-bb7f-0a40b4577418/scratch-2026-09-29-b4af05/deck/.build/assets/spiral-galaxy-black-1200.png">    </p:cNvPr>
          <p:cNvPicPr>
            <a:picLocks noChangeAspect="1"/>
          </p:cNvPicPr>
          <p:nvPr/>
        </p:nvPicPr>
        <p:blipFill>
          <a:blip r:embed="rId1"/>
          <a:stretch>
            <a:fillRect/>
          </a:stretch>
        </p:blipFill>
        <p:spPr>
          <a:xfrm>
            <a:off x="9372600" y="320040"/>
            <a:ext cx="2468880" cy="2438019"/>
          </a:xfrm>
          <a:prstGeom prst="rect">
            <a:avLst/>
          </a:prstGeom>
        </p:spPr>
      </p:pic>
      <p:sp>
        <p:nvSpPr>
          <p:cNvPr id="5" name="From our classrooms to a cultural experi"/>
          <p:cNvSpPr txBox="1"/>
          <p:nvPr/>
        </p:nvSpPr>
        <p:spPr>
          <a:xfrm>
            <a:off x="548640" y="2514600"/>
            <a:ext cx="7315200" cy="365760"/>
          </a:xfrm>
          <a:prstGeom prst="rect">
            <a:avLst/>
          </a:prstGeom>
          <a:noFill/>
          <a:ln/>
        </p:spPr>
        <p:txBody>
          <a:bodyPr wrap="square" lIns="0" tIns="0" rIns="0" bIns="0" rtlCol="0" anchor="t"/>
          <a:lstStyle/>
          <a:p>
            <a:pPr algn="l" indent="0" marL="0">
              <a:lnSpc>
                <a:spcPct val="100000"/>
              </a:lnSpc>
              <a:buNone/>
            </a:pPr>
            <a:r>
              <a:rPr lang="en-US" sz="1800" dirty="0">
                <a:solidFill>
                  <a:schemeClr val="bg1"/>
                </a:solidFill>
              </a:rPr>
              <a:t>From our classrooms to a cultural experience like never before</a:t>
            </a:r>
            <a:endParaRPr lang="en-US" sz="1800" dirty="0"/>
          </a:p>
        </p:txBody>
      </p:sp>
      <p:sp>
        <p:nvSpPr>
          <p:cNvPr id="6" name="Stat student registrations"/>
          <p:cNvSpPr txBox="1"/>
          <p:nvPr/>
        </p:nvSpPr>
        <p:spPr>
          <a:xfrm>
            <a:off x="548640" y="3749040"/>
            <a:ext cx="2567864" cy="1097280"/>
          </a:xfrm>
          <a:prstGeom prst="rect">
            <a:avLst/>
          </a:prstGeom>
          <a:noFill/>
          <a:ln/>
        </p:spPr>
        <p:txBody>
          <a:bodyPr wrap="square" lIns="0" tIns="0" rIns="0" bIns="0" rtlCol="0" anchor="b"/>
          <a:lstStyle/>
          <a:p>
            <a:pPr algn="l" indent="0" marL="0">
              <a:lnSpc>
                <a:spcPct val="90000"/>
              </a:lnSpc>
              <a:buNone/>
            </a:pPr>
            <a:r>
              <a:rPr lang="en-US" sz="7200" b="1" dirty="0">
                <a:solidFill>
                  <a:schemeClr val="accent1"/>
                </a:solidFill>
              </a:rPr>
              <a:t>2L+</a:t>
            </a:r>
            <a:endParaRPr lang="en-US" sz="7200" dirty="0"/>
          </a:p>
        </p:txBody>
      </p:sp>
      <p:sp>
        <p:nvSpPr>
          <p:cNvPr id="7" name="student registrations"/>
          <p:cNvSpPr txBox="1"/>
          <p:nvPr/>
        </p:nvSpPr>
        <p:spPr>
          <a:xfrm>
            <a:off x="548640" y="4937760"/>
            <a:ext cx="2567864" cy="457200"/>
          </a:xfrm>
          <a:prstGeom prst="rect">
            <a:avLst/>
          </a:prstGeom>
          <a:noFill/>
          <a:ln/>
        </p:spPr>
        <p:txBody>
          <a:bodyPr wrap="square" lIns="0" tIns="0" rIns="0" bIns="0" rtlCol="0" anchor="t"/>
          <a:lstStyle/>
          <a:p>
            <a:pPr algn="l" indent="0" marL="0">
              <a:lnSpc>
                <a:spcPct val="100000"/>
              </a:lnSpc>
              <a:buNone/>
            </a:pPr>
            <a:r>
              <a:rPr lang="en-US" sz="1800" b="1" dirty="0">
                <a:solidFill>
                  <a:schemeClr val="bg1"/>
                </a:solidFill>
              </a:rPr>
              <a:t>student registrations</a:t>
            </a:r>
            <a:endParaRPr lang="en-US" sz="1800" dirty="0"/>
          </a:p>
        </p:txBody>
      </p:sp>
      <p:sp>
        <p:nvSpPr>
          <p:cNvPr id="8" name="Stat target colleges"/>
          <p:cNvSpPr txBox="1"/>
          <p:nvPr/>
        </p:nvSpPr>
        <p:spPr>
          <a:xfrm>
            <a:off x="3390824" y="3749040"/>
            <a:ext cx="2567864" cy="1097280"/>
          </a:xfrm>
          <a:prstGeom prst="rect">
            <a:avLst/>
          </a:prstGeom>
          <a:noFill/>
          <a:ln/>
        </p:spPr>
        <p:txBody>
          <a:bodyPr wrap="square" lIns="0" tIns="0" rIns="0" bIns="0" rtlCol="0" anchor="b"/>
          <a:lstStyle/>
          <a:p>
            <a:pPr algn="l" indent="0" marL="0">
              <a:lnSpc>
                <a:spcPct val="90000"/>
              </a:lnSpc>
              <a:buNone/>
            </a:pPr>
            <a:r>
              <a:rPr lang="en-US" sz="7200" b="1" dirty="0">
                <a:solidFill>
                  <a:schemeClr val="accent1"/>
                </a:solidFill>
              </a:rPr>
              <a:t>250+</a:t>
            </a:r>
            <a:endParaRPr lang="en-US" sz="7200" dirty="0"/>
          </a:p>
        </p:txBody>
      </p:sp>
      <p:sp>
        <p:nvSpPr>
          <p:cNvPr id="9" name="target colleges"/>
          <p:cNvSpPr txBox="1"/>
          <p:nvPr/>
        </p:nvSpPr>
        <p:spPr>
          <a:xfrm>
            <a:off x="3390824" y="4937760"/>
            <a:ext cx="2567864" cy="457200"/>
          </a:xfrm>
          <a:prstGeom prst="rect">
            <a:avLst/>
          </a:prstGeom>
          <a:noFill/>
          <a:ln/>
        </p:spPr>
        <p:txBody>
          <a:bodyPr wrap="square" lIns="0" tIns="0" rIns="0" bIns="0" rtlCol="0" anchor="t"/>
          <a:lstStyle/>
          <a:p>
            <a:pPr algn="l" indent="0" marL="0">
              <a:lnSpc>
                <a:spcPct val="100000"/>
              </a:lnSpc>
              <a:buNone/>
            </a:pPr>
            <a:r>
              <a:rPr lang="en-US" sz="1800" b="1" dirty="0">
                <a:solidFill>
                  <a:schemeClr val="bg1"/>
                </a:solidFill>
              </a:rPr>
              <a:t>target colleges</a:t>
            </a:r>
            <a:endParaRPr lang="en-US" sz="1800" dirty="0"/>
          </a:p>
        </p:txBody>
      </p:sp>
      <p:sp>
        <p:nvSpPr>
          <p:cNvPr id="10" name="Stat events"/>
          <p:cNvSpPr txBox="1"/>
          <p:nvPr/>
        </p:nvSpPr>
        <p:spPr>
          <a:xfrm>
            <a:off x="6233008" y="3749040"/>
            <a:ext cx="2567864" cy="1097280"/>
          </a:xfrm>
          <a:prstGeom prst="rect">
            <a:avLst/>
          </a:prstGeom>
          <a:noFill/>
          <a:ln/>
        </p:spPr>
        <p:txBody>
          <a:bodyPr wrap="square" lIns="0" tIns="0" rIns="0" bIns="0" rtlCol="0" anchor="b"/>
          <a:lstStyle/>
          <a:p>
            <a:pPr algn="l" indent="0" marL="0">
              <a:lnSpc>
                <a:spcPct val="90000"/>
              </a:lnSpc>
              <a:buNone/>
            </a:pPr>
            <a:r>
              <a:rPr lang="en-US" sz="7200" b="1" dirty="0">
                <a:solidFill>
                  <a:schemeClr val="accent1"/>
                </a:solidFill>
              </a:rPr>
              <a:t>70+</a:t>
            </a:r>
            <a:endParaRPr lang="en-US" sz="7200" dirty="0"/>
          </a:p>
        </p:txBody>
      </p:sp>
      <p:sp>
        <p:nvSpPr>
          <p:cNvPr id="11" name="events"/>
          <p:cNvSpPr txBox="1"/>
          <p:nvPr/>
        </p:nvSpPr>
        <p:spPr>
          <a:xfrm>
            <a:off x="6233008" y="4937760"/>
            <a:ext cx="2567864" cy="457200"/>
          </a:xfrm>
          <a:prstGeom prst="rect">
            <a:avLst/>
          </a:prstGeom>
          <a:noFill/>
          <a:ln/>
        </p:spPr>
        <p:txBody>
          <a:bodyPr wrap="square" lIns="0" tIns="0" rIns="0" bIns="0" rtlCol="0" anchor="t"/>
          <a:lstStyle/>
          <a:p>
            <a:pPr algn="l" indent="0" marL="0">
              <a:lnSpc>
                <a:spcPct val="100000"/>
              </a:lnSpc>
              <a:buNone/>
            </a:pPr>
            <a:r>
              <a:rPr lang="en-US" sz="1800" b="1" dirty="0">
                <a:solidFill>
                  <a:schemeClr val="bg1"/>
                </a:solidFill>
              </a:rPr>
              <a:t>events</a:t>
            </a:r>
            <a:endParaRPr lang="en-US" sz="1800" dirty="0"/>
          </a:p>
        </p:txBody>
      </p:sp>
      <p:sp>
        <p:nvSpPr>
          <p:cNvPr id="12" name="Stat cities"/>
          <p:cNvSpPr txBox="1"/>
          <p:nvPr/>
        </p:nvSpPr>
        <p:spPr>
          <a:xfrm>
            <a:off x="9075191" y="3749040"/>
            <a:ext cx="2567864" cy="1097280"/>
          </a:xfrm>
          <a:prstGeom prst="rect">
            <a:avLst/>
          </a:prstGeom>
          <a:noFill/>
          <a:ln/>
        </p:spPr>
        <p:txBody>
          <a:bodyPr wrap="square" lIns="0" tIns="0" rIns="0" bIns="0" rtlCol="0" anchor="b"/>
          <a:lstStyle/>
          <a:p>
            <a:pPr algn="l" indent="0" marL="0">
              <a:lnSpc>
                <a:spcPct val="90000"/>
              </a:lnSpc>
              <a:buNone/>
            </a:pPr>
            <a:r>
              <a:rPr lang="en-US" sz="7200" b="1" dirty="0">
                <a:solidFill>
                  <a:schemeClr val="accent1"/>
                </a:solidFill>
              </a:rPr>
              <a:t>7</a:t>
            </a:r>
            <a:endParaRPr lang="en-US" sz="7200" dirty="0"/>
          </a:p>
        </p:txBody>
      </p:sp>
      <p:sp>
        <p:nvSpPr>
          <p:cNvPr id="13" name="cities"/>
          <p:cNvSpPr txBox="1"/>
          <p:nvPr/>
        </p:nvSpPr>
        <p:spPr>
          <a:xfrm>
            <a:off x="9075191" y="4937760"/>
            <a:ext cx="2567864" cy="457200"/>
          </a:xfrm>
          <a:prstGeom prst="rect">
            <a:avLst/>
          </a:prstGeom>
          <a:noFill/>
          <a:ln/>
        </p:spPr>
        <p:txBody>
          <a:bodyPr wrap="square" lIns="0" tIns="0" rIns="0" bIns="0" rtlCol="0" anchor="t"/>
          <a:lstStyle/>
          <a:p>
            <a:pPr algn="l" indent="0" marL="0">
              <a:lnSpc>
                <a:spcPct val="100000"/>
              </a:lnSpc>
              <a:buNone/>
            </a:pPr>
            <a:r>
              <a:rPr lang="en-US" sz="1800" b="1" dirty="0">
                <a:solidFill>
                  <a:schemeClr val="bg1"/>
                </a:solidFill>
              </a:rPr>
              <a:t>cities</a:t>
            </a:r>
            <a:endParaRPr lang="en-US" sz="18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bg1"/>
                </a:solidFill>
              </a:rPr>
              <a:t>It's bands, gaming, performing arts and informals all day long.</a:t>
            </a:r>
            <a:endParaRPr lang="en-US" sz="3600" dirty="0"/>
          </a:p>
        </p:txBody>
      </p:sp>
      <p:sp>
        <p:nvSpPr>
          <p:cNvPr id="3" name="And when the sun goes down, the pronites"/>
          <p:cNvSpPr txBox="1"/>
          <p:nvPr/>
        </p:nvSpPr>
        <p:spPr>
          <a:xfrm>
            <a:off x="548640" y="1874520"/>
            <a:ext cx="8778240" cy="457200"/>
          </a:xfrm>
          <a:prstGeom prst="rect">
            <a:avLst/>
          </a:prstGeom>
          <a:noFill/>
          <a:ln/>
        </p:spPr>
        <p:txBody>
          <a:bodyPr wrap="square" lIns="0" tIns="0" rIns="0" bIns="0" rtlCol="0" anchor="t"/>
          <a:lstStyle/>
          <a:p>
            <a:pPr algn="l" indent="0" marL="0">
              <a:lnSpc>
                <a:spcPct val="100000"/>
              </a:lnSpc>
              <a:buNone/>
            </a:pPr>
            <a:r>
              <a:rPr lang="en-US" sz="2000" b="1" dirty="0">
                <a:solidFill>
                  <a:schemeClr val="accent1"/>
                </a:solidFill>
              </a:rPr>
              <a:t>And when the sun goes down, the pronites begin.</a:t>
            </a:r>
            <a:endParaRPr lang="en-US" sz="2000" dirty="0"/>
          </a:p>
        </p:txBody>
      </p:sp>
      <p:pic>
        <p:nvPicPr>
          <p:cNvPr id="4" name="Bands" descr="/Users/xadxtyax/Library/Application Support/Claude/scratch-workspaces/7159731d-a44a-4097-bf70-afdcfed87503/0bd4f3ce-9e23-4993-bb7f-0a40b4577418/scratch-2026-09-29-b4af05/deck/.build/assets/badge-guitar-yellow-900.png">    </p:cNvPr>
          <p:cNvPicPr>
            <a:picLocks noChangeAspect="1"/>
          </p:cNvPicPr>
          <p:nvPr/>
        </p:nvPicPr>
        <p:blipFill>
          <a:blip r:embed="rId1"/>
          <a:stretch>
            <a:fillRect/>
          </a:stretch>
        </p:blipFill>
        <p:spPr>
          <a:xfrm>
            <a:off x="748254" y="2788920"/>
            <a:ext cx="1600200" cy="1600200"/>
          </a:xfrm>
          <a:prstGeom prst="rect">
            <a:avLst/>
          </a:prstGeom>
        </p:spPr>
      </p:pic>
      <p:sp>
        <p:nvSpPr>
          <p:cNvPr id="5" name="BANDS"/>
          <p:cNvSpPr txBox="1"/>
          <p:nvPr/>
        </p:nvSpPr>
        <p:spPr>
          <a:xfrm>
            <a:off x="548640" y="4572000"/>
            <a:ext cx="1999427" cy="365760"/>
          </a:xfrm>
          <a:prstGeom prst="rect">
            <a:avLst/>
          </a:prstGeom>
          <a:noFill/>
          <a:ln/>
        </p:spPr>
        <p:txBody>
          <a:bodyPr wrap="square" lIns="0" tIns="0" rIns="0" bIns="0" rtlCol="0" anchor="t"/>
          <a:lstStyle/>
          <a:p>
            <a:pPr algn="ctr" indent="0" marL="0">
              <a:lnSpc>
                <a:spcPct val="100000"/>
              </a:lnSpc>
              <a:buNone/>
            </a:pPr>
            <a:r>
              <a:rPr lang="en-US" sz="1500" b="1" spc="150" kern="0" dirty="0">
                <a:solidFill>
                  <a:schemeClr val="bg1"/>
                </a:solidFill>
              </a:rPr>
              <a:t>BANDS</a:t>
            </a:r>
            <a:endParaRPr lang="en-US" sz="1500" dirty="0"/>
          </a:p>
        </p:txBody>
      </p:sp>
      <p:pic>
        <p:nvPicPr>
          <p:cNvPr id="6" name="Gaming" descr="/Users/xadxtyax/Library/Application Support/Claude/scratch-workspaces/7159731d-a44a-4097-bf70-afdcfed87503/0bd4f3ce-9e23-4993-bb7f-0a40b4577418/scratch-2026-09-29-b4af05/deck/.build/assets/badge-crystal-yellow-900.png">    </p:cNvPr>
          <p:cNvPicPr>
            <a:picLocks noChangeAspect="1"/>
          </p:cNvPicPr>
          <p:nvPr/>
        </p:nvPicPr>
        <p:blipFill>
          <a:blip r:embed="rId2"/>
          <a:stretch>
            <a:fillRect/>
          </a:stretch>
        </p:blipFill>
        <p:spPr>
          <a:xfrm>
            <a:off x="3022001" y="2788920"/>
            <a:ext cx="1600200" cy="1477518"/>
          </a:xfrm>
          <a:prstGeom prst="rect">
            <a:avLst/>
          </a:prstGeom>
        </p:spPr>
      </p:pic>
      <p:sp>
        <p:nvSpPr>
          <p:cNvPr id="7" name="GAMING"/>
          <p:cNvSpPr txBox="1"/>
          <p:nvPr/>
        </p:nvSpPr>
        <p:spPr>
          <a:xfrm>
            <a:off x="2822387" y="4572000"/>
            <a:ext cx="1999427" cy="365760"/>
          </a:xfrm>
          <a:prstGeom prst="rect">
            <a:avLst/>
          </a:prstGeom>
          <a:noFill/>
          <a:ln/>
        </p:spPr>
        <p:txBody>
          <a:bodyPr wrap="square" lIns="0" tIns="0" rIns="0" bIns="0" rtlCol="0" anchor="t"/>
          <a:lstStyle/>
          <a:p>
            <a:pPr algn="ctr" indent="0" marL="0">
              <a:lnSpc>
                <a:spcPct val="100000"/>
              </a:lnSpc>
              <a:buNone/>
            </a:pPr>
            <a:r>
              <a:rPr lang="en-US" sz="1500" b="1" spc="150" kern="0" dirty="0">
                <a:solidFill>
                  <a:schemeClr val="bg1"/>
                </a:solidFill>
              </a:rPr>
              <a:t>GAMING</a:t>
            </a:r>
            <a:endParaRPr lang="en-US" sz="1500" dirty="0"/>
          </a:p>
        </p:txBody>
      </p:sp>
      <p:pic>
        <p:nvPicPr>
          <p:cNvPr id="8" name="Performing Arts" descr="/Users/xadxtyax/Library/Application Support/Claude/scratch-workspaces/7159731d-a44a-4097-bf70-afdcfed87503/0bd4f3ce-9e23-4993-bb7f-0a40b4577418/scratch-2026-09-29-b4af05/deck/.build/assets/playground-5-yellow-900.png">    </p:cNvPr>
          <p:cNvPicPr>
            <a:picLocks noChangeAspect="1"/>
          </p:cNvPicPr>
          <p:nvPr/>
        </p:nvPicPr>
        <p:blipFill>
          <a:blip r:embed="rId3"/>
          <a:stretch>
            <a:fillRect/>
          </a:stretch>
        </p:blipFill>
        <p:spPr>
          <a:xfrm>
            <a:off x="5295748" y="2788920"/>
            <a:ext cx="1600200" cy="1589532"/>
          </a:xfrm>
          <a:prstGeom prst="rect">
            <a:avLst/>
          </a:prstGeom>
        </p:spPr>
      </p:pic>
      <p:sp>
        <p:nvSpPr>
          <p:cNvPr id="9" name="PERFORMING ARTS"/>
          <p:cNvSpPr txBox="1"/>
          <p:nvPr/>
        </p:nvSpPr>
        <p:spPr>
          <a:xfrm>
            <a:off x="5096134" y="4572000"/>
            <a:ext cx="1999427" cy="365760"/>
          </a:xfrm>
          <a:prstGeom prst="rect">
            <a:avLst/>
          </a:prstGeom>
          <a:noFill/>
          <a:ln/>
        </p:spPr>
        <p:txBody>
          <a:bodyPr wrap="square" lIns="0" tIns="0" rIns="0" bIns="0" rtlCol="0" anchor="t"/>
          <a:lstStyle/>
          <a:p>
            <a:pPr algn="ctr" indent="0" marL="0">
              <a:lnSpc>
                <a:spcPct val="100000"/>
              </a:lnSpc>
              <a:buNone/>
            </a:pPr>
            <a:r>
              <a:rPr lang="en-US" sz="1500" b="1" spc="150" kern="0" dirty="0">
                <a:solidFill>
                  <a:schemeClr val="bg1"/>
                </a:solidFill>
              </a:rPr>
              <a:t>PERFORMING ARTS</a:t>
            </a:r>
            <a:endParaRPr lang="en-US" sz="1500" dirty="0"/>
          </a:p>
        </p:txBody>
      </p:sp>
      <p:pic>
        <p:nvPicPr>
          <p:cNvPr id="10" name="Informals" descr="/Users/xadxtyax/Library/Application Support/Claude/scratch-workspaces/7159731d-a44a-4097-bf70-afdcfed87503/0bd4f3ce-9e23-4993-bb7f-0a40b4577418/scratch-2026-09-29-b4af05/deck/.build/assets/badge-rollercoaster-yellow-900.png">    </p:cNvPr>
          <p:cNvPicPr>
            <a:picLocks noChangeAspect="1"/>
          </p:cNvPicPr>
          <p:nvPr/>
        </p:nvPicPr>
        <p:blipFill>
          <a:blip r:embed="rId4"/>
          <a:stretch>
            <a:fillRect/>
          </a:stretch>
        </p:blipFill>
        <p:spPr>
          <a:xfrm>
            <a:off x="7569495" y="2788920"/>
            <a:ext cx="1600200" cy="1628648"/>
          </a:xfrm>
          <a:prstGeom prst="rect">
            <a:avLst/>
          </a:prstGeom>
        </p:spPr>
      </p:pic>
      <p:sp>
        <p:nvSpPr>
          <p:cNvPr id="11" name="INFORMALS"/>
          <p:cNvSpPr txBox="1"/>
          <p:nvPr/>
        </p:nvSpPr>
        <p:spPr>
          <a:xfrm>
            <a:off x="7369881" y="4572000"/>
            <a:ext cx="1999427" cy="365760"/>
          </a:xfrm>
          <a:prstGeom prst="rect">
            <a:avLst/>
          </a:prstGeom>
          <a:noFill/>
          <a:ln/>
        </p:spPr>
        <p:txBody>
          <a:bodyPr wrap="square" lIns="0" tIns="0" rIns="0" bIns="0" rtlCol="0" anchor="t"/>
          <a:lstStyle/>
          <a:p>
            <a:pPr algn="ctr" indent="0" marL="0">
              <a:lnSpc>
                <a:spcPct val="100000"/>
              </a:lnSpc>
              <a:buNone/>
            </a:pPr>
            <a:r>
              <a:rPr lang="en-US" sz="1500" b="1" spc="150" kern="0" dirty="0">
                <a:solidFill>
                  <a:schemeClr val="bg1"/>
                </a:solidFill>
              </a:rPr>
              <a:t>INFORMALS</a:t>
            </a:r>
            <a:endParaRPr lang="en-US" sz="1500" dirty="0"/>
          </a:p>
        </p:txBody>
      </p:sp>
      <p:pic>
        <p:nvPicPr>
          <p:cNvPr id="12" name="Pronites" descr="/Users/xadxtyax/Library/Application Support/Claude/scratch-workspaces/7159731d-a44a-4097-bf70-afdcfed87503/0bd4f3ce-9e23-4993-bb7f-0a40b4577418/scratch-2026-09-29-b4af05/deck/.build/assets/badge-keyboard-yellow-900.png">    </p:cNvPr>
          <p:cNvPicPr>
            <a:picLocks noChangeAspect="1"/>
          </p:cNvPicPr>
          <p:nvPr/>
        </p:nvPicPr>
        <p:blipFill>
          <a:blip r:embed="rId5"/>
          <a:stretch>
            <a:fillRect/>
          </a:stretch>
        </p:blipFill>
        <p:spPr>
          <a:xfrm>
            <a:off x="9843242" y="2788920"/>
            <a:ext cx="1600200" cy="1457960"/>
          </a:xfrm>
          <a:prstGeom prst="rect">
            <a:avLst/>
          </a:prstGeom>
        </p:spPr>
      </p:pic>
      <p:sp>
        <p:nvSpPr>
          <p:cNvPr id="13" name="PRONITES"/>
          <p:cNvSpPr txBox="1"/>
          <p:nvPr/>
        </p:nvSpPr>
        <p:spPr>
          <a:xfrm>
            <a:off x="9643628" y="4572000"/>
            <a:ext cx="1999427" cy="365760"/>
          </a:xfrm>
          <a:prstGeom prst="rect">
            <a:avLst/>
          </a:prstGeom>
          <a:noFill/>
          <a:ln/>
        </p:spPr>
        <p:txBody>
          <a:bodyPr wrap="square" lIns="0" tIns="0" rIns="0" bIns="0" rtlCol="0" anchor="t"/>
          <a:lstStyle/>
          <a:p>
            <a:pPr algn="ctr" indent="0" marL="0">
              <a:lnSpc>
                <a:spcPct val="100000"/>
              </a:lnSpc>
              <a:buNone/>
            </a:pPr>
            <a:r>
              <a:rPr lang="en-US" sz="1500" b="1" spc="150" kern="0" dirty="0">
                <a:solidFill>
                  <a:schemeClr val="bg1"/>
                </a:solidFill>
              </a:rPr>
              <a:t>PRONITES</a:t>
            </a:r>
            <a:endParaRPr lang="en-US" sz="1500" dirty="0"/>
          </a:p>
        </p:txBody>
      </p:sp>
      <p:sp>
        <p:nvSpPr>
          <p:cNvPr id="14" name="We are bringing the brightest stars from"/>
          <p:cNvSpPr txBox="1"/>
          <p:nvPr/>
        </p:nvSpPr>
        <p:spPr>
          <a:xfrm>
            <a:off x="548640" y="5394960"/>
            <a:ext cx="10515600" cy="731520"/>
          </a:xfrm>
          <a:prstGeom prst="rect">
            <a:avLst/>
          </a:prstGeom>
          <a:noFill/>
          <a:ln/>
        </p:spPr>
        <p:txBody>
          <a:bodyPr wrap="square" lIns="0" tIns="0" rIns="0" bIns="0" rtlCol="0" anchor="t"/>
          <a:lstStyle/>
          <a:p>
            <a:pPr algn="l" indent="0" marL="0">
              <a:lnSpc>
                <a:spcPct val="100000"/>
              </a:lnSpc>
              <a:buNone/>
            </a:pPr>
            <a:r>
              <a:rPr lang="en-US" sz="1600" dirty="0">
                <a:solidFill>
                  <a:schemeClr val="bg2"/>
                </a:solidFill>
              </a:rPr>
              <a:t>We are bringing the brightest stars from across India into one arena of music, competition and culture.</a:t>
            </a:r>
            <a:endParaRPr lang="en-US" sz="1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bg1"/>
                </a:solidFill>
              </a:rPr>
              <a:t>The Journey</a:t>
            </a:r>
            <a:endParaRPr lang="en-US" sz="3600" dirty="0"/>
          </a:p>
        </p:txBody>
      </p:sp>
      <p:sp>
        <p:nvSpPr>
          <p:cNvPr id="3" name="ROAD TO MILKY WAY"/>
          <p:cNvSpPr txBox="1"/>
          <p:nvPr/>
        </p:nvSpPr>
        <p:spPr>
          <a:xfrm>
            <a:off x="548640" y="457200"/>
            <a:ext cx="8229600" cy="274320"/>
          </a:xfrm>
          <a:prstGeom prst="rect">
            <a:avLst/>
          </a:prstGeom>
          <a:noFill/>
          <a:ln/>
        </p:spPr>
        <p:txBody>
          <a:bodyPr wrap="square" lIns="0" tIns="0" rIns="0" bIns="0" rtlCol="0" anchor="t"/>
          <a:lstStyle/>
          <a:p>
            <a:pPr algn="l" indent="0" marL="0">
              <a:lnSpc>
                <a:spcPct val="100000"/>
              </a:lnSpc>
              <a:buNone/>
            </a:pPr>
            <a:r>
              <a:rPr lang="en-US" sz="1100" b="1" spc="250" kern="0" dirty="0">
                <a:solidFill>
                  <a:schemeClr val="accent1"/>
                </a:solidFill>
              </a:rPr>
              <a:t>ROAD TO MILKY WAY</a:t>
            </a:r>
            <a:endParaRPr lang="en-US" sz="1100" dirty="0"/>
          </a:p>
        </p:txBody>
      </p:sp>
      <p:sp>
        <p:nvSpPr>
          <p:cNvPr id="4" name="Before Delhi, there's a whole universe t"/>
          <p:cNvSpPr txBox="1"/>
          <p:nvPr/>
        </p:nvSpPr>
        <p:spPr>
          <a:xfrm>
            <a:off x="548640" y="1463040"/>
            <a:ext cx="4937760" cy="640080"/>
          </a:xfrm>
          <a:prstGeom prst="rect">
            <a:avLst/>
          </a:prstGeom>
          <a:noFill/>
          <a:ln/>
        </p:spPr>
        <p:txBody>
          <a:bodyPr wrap="square" lIns="0" tIns="0" rIns="0" bIns="0" rtlCol="0" anchor="t"/>
          <a:lstStyle/>
          <a:p>
            <a:pPr algn="l" indent="0" marL="0">
              <a:lnSpc>
                <a:spcPct val="100000"/>
              </a:lnSpc>
              <a:buNone/>
            </a:pPr>
            <a:r>
              <a:rPr lang="en-US" sz="1800" b="1" dirty="0">
                <a:solidFill>
                  <a:schemeClr val="accent1"/>
                </a:solidFill>
              </a:rPr>
              <a:t>Before Delhi, there's a whole universe to cover</a:t>
            </a:r>
            <a:endParaRPr lang="en-US" sz="1800" dirty="0"/>
          </a:p>
        </p:txBody>
      </p:sp>
      <p:sp>
        <p:nvSpPr>
          <p:cNvPr id="5" name="Text"/>
          <p:cNvSpPr txBox="1"/>
          <p:nvPr/>
        </p:nvSpPr>
        <p:spPr>
          <a:xfrm>
            <a:off x="548640" y="2331720"/>
            <a:ext cx="4846320" cy="1188720"/>
          </a:xfrm>
          <a:prstGeom prst="rect">
            <a:avLst/>
          </a:prstGeom>
          <a:noFill/>
          <a:ln/>
        </p:spPr>
        <p:txBody>
          <a:bodyPr wrap="square" lIns="0" tIns="0" rIns="0" bIns="0" rtlCol="0" anchor="t"/>
          <a:lstStyle/>
          <a:p>
            <a:pPr algn="l" indent="0" marL="0">
              <a:lnSpc>
                <a:spcPct val="105000"/>
              </a:lnSpc>
              <a:buNone/>
            </a:pPr>
            <a:r>
              <a:rPr lang="en-US" sz="1600" b="1" dirty="0">
                <a:solidFill>
                  <a:schemeClr val="accent1"/>
                </a:solidFill>
              </a:rPr>
              <a:t>Road to Milky Way</a:t>
            </a:r>
            <a:pPr algn="l" indent="0" marL="0">
              <a:lnSpc>
                <a:spcPct val="105000"/>
              </a:lnSpc>
              <a:buNone/>
            </a:pPr>
            <a:r>
              <a:rPr lang="en-US" sz="1600" dirty="0">
                <a:solidFill>
                  <a:schemeClr val="bg1"/>
                </a:solidFill>
              </a:rPr>
              <a:t> brings one signature experience to each city on the map, free for UG students across India.</a:t>
            </a:r>
            <a:endParaRPr lang="en-US" sz="1600" dirty="0"/>
          </a:p>
        </p:txBody>
      </p:sp>
      <p:sp>
        <p:nvSpPr>
          <p:cNvPr id="6" name="Seven cities. Seven nights nobody forget"/>
          <p:cNvSpPr txBox="1"/>
          <p:nvPr/>
        </p:nvSpPr>
        <p:spPr>
          <a:xfrm>
            <a:off x="548640" y="3657600"/>
            <a:ext cx="4846320" cy="1188720"/>
          </a:xfrm>
          <a:prstGeom prst="rect">
            <a:avLst/>
          </a:prstGeom>
          <a:noFill/>
          <a:ln/>
        </p:spPr>
        <p:txBody>
          <a:bodyPr wrap="square" lIns="0" tIns="0" rIns="0" bIns="0" rtlCol="0" anchor="t"/>
          <a:lstStyle/>
          <a:p>
            <a:pPr algn="l" indent="0" marL="0">
              <a:lnSpc>
                <a:spcPct val="95000"/>
              </a:lnSpc>
              <a:buNone/>
            </a:pPr>
            <a:r>
              <a:rPr lang="en-US" sz="2400" b="1" dirty="0">
                <a:solidFill>
                  <a:schemeClr val="bg1"/>
                </a:solidFill>
              </a:rPr>
              <a:t>Seven cities. Seven nights nobody forgets. Then everyone meets in Delhi.</a:t>
            </a:r>
            <a:endParaRPr lang="en-US" sz="2400" dirty="0"/>
          </a:p>
        </p:txBody>
      </p:sp>
      <p:sp>
        <p:nvSpPr>
          <p:cNvPr id="7" name="Ride the full journey with us, from the "/>
          <p:cNvSpPr txBox="1"/>
          <p:nvPr/>
        </p:nvSpPr>
        <p:spPr>
          <a:xfrm>
            <a:off x="548640" y="5212080"/>
            <a:ext cx="4572000" cy="822960"/>
          </a:xfrm>
          <a:prstGeom prst="rect">
            <a:avLst/>
          </a:prstGeom>
          <a:noFill/>
          <a:ln/>
        </p:spPr>
        <p:txBody>
          <a:bodyPr wrap="square" lIns="0" tIns="0" rIns="0" bIns="0" rtlCol="0" anchor="t"/>
          <a:lstStyle/>
          <a:p>
            <a:pPr algn="l" indent="0" marL="0">
              <a:lnSpc>
                <a:spcPct val="100000"/>
              </a:lnSpc>
              <a:buNone/>
            </a:pPr>
            <a:r>
              <a:rPr lang="en-US" sz="1400" dirty="0">
                <a:solidFill>
                  <a:schemeClr val="bg2"/>
                </a:solidFill>
              </a:rPr>
              <a:t>Ride the full journey with us, from the first city to the final night in Delhi.</a:t>
            </a:r>
            <a:endParaRPr lang="en-US" sz="1400" dirty="0"/>
          </a:p>
        </p:txBody>
      </p:sp>
      <p:pic>
        <p:nvPicPr>
          <p:cNvPr id="8" name="Road to Milky Way map" descr="India, with the seven Road to Milky Way cities: Delhi, Jaipur, Bangalore, Chandigarh, Mumbai, Varanasi, Guwahati; the course returns to Delhi">    </p:cNvPr>
          <p:cNvPicPr>
            <a:picLocks noChangeAspect="1"/>
          </p:cNvPicPr>
          <p:nvPr/>
        </p:nvPicPr>
        <p:blipFill>
          <a:blip r:embed="rId1"/>
          <a:stretch>
            <a:fillRect/>
          </a:stretch>
        </p:blipFill>
        <p:spPr>
          <a:xfrm>
            <a:off x="5623560" y="274320"/>
            <a:ext cx="5420197" cy="6035040"/>
          </a:xfrm>
          <a:prstGeom prst="rect">
            <a:avLst/>
          </a:prstGeom>
        </p:spPr>
      </p:pic>
      <p:pic>
        <p:nvPicPr>
          <p:cNvPr id="9" name="Delhi pin" descr="/Users/xadxtyax/Library/Application Support/Claude/scratch-workspaces/7159731d-a44a-4097-bf70-afdcfed87503/0bd4f3ce-9e23-4993-bb7f-0a40b4577418/scratch-2026-09-29-b4af05/deck/.build/assets/location-vermilion-256.png">    </p:cNvPr>
          <p:cNvPicPr>
            <a:picLocks noChangeAspect="1"/>
          </p:cNvPicPr>
          <p:nvPr/>
        </p:nvPicPr>
        <p:blipFill>
          <a:blip r:embed="rId2"/>
          <a:stretch>
            <a:fillRect/>
          </a:stretch>
        </p:blipFill>
        <p:spPr>
          <a:xfrm>
            <a:off x="7237959" y="1740723"/>
            <a:ext cx="237744" cy="237744"/>
          </a:xfrm>
          <a:prstGeom prst="rect">
            <a:avLst/>
          </a:prstGeom>
        </p:spPr>
      </p:pic>
      <p:sp>
        <p:nvSpPr>
          <p:cNvPr id="10" name="Text"/>
          <p:cNvSpPr txBox="1"/>
          <p:nvPr/>
        </p:nvSpPr>
        <p:spPr>
          <a:xfrm>
            <a:off x="7503135" y="1896171"/>
            <a:ext cx="1371600" cy="219456"/>
          </a:xfrm>
          <a:prstGeom prst="rect">
            <a:avLst/>
          </a:prstGeom>
          <a:noFill/>
          <a:ln/>
        </p:spPr>
        <p:txBody>
          <a:bodyPr wrap="square" lIns="0" tIns="0" rIns="0" bIns="0" rtlCol="0" anchor="t"/>
          <a:lstStyle/>
          <a:p>
            <a:pPr algn="l" indent="0" marL="0">
              <a:lnSpc>
                <a:spcPct val="100000"/>
              </a:lnSpc>
              <a:buNone/>
            </a:pPr>
            <a:r>
              <a:rPr lang="en-US" sz="800" b="1" spc="100" kern="0" dirty="0">
                <a:solidFill>
                  <a:schemeClr val="accent1"/>
                </a:solidFill>
              </a:rPr>
              <a:t>01  </a:t>
            </a:r>
            <a:pPr algn="l" indent="0" marL="0">
              <a:lnSpc>
                <a:spcPct val="100000"/>
              </a:lnSpc>
              <a:buNone/>
            </a:pPr>
            <a:r>
              <a:rPr lang="en-US" sz="1300" b="1" spc="100" kern="0" dirty="0">
                <a:solidFill>
                  <a:schemeClr val="accent1"/>
                </a:solidFill>
              </a:rPr>
              <a:t>DELHI</a:t>
            </a:r>
            <a:endParaRPr lang="en-US" sz="1300" dirty="0"/>
          </a:p>
        </p:txBody>
      </p:sp>
      <p:pic>
        <p:nvPicPr>
          <p:cNvPr id="11" name="Jaipur pin" descr="/Users/xadxtyax/Library/Application Support/Claude/scratch-workspaces/7159731d-a44a-4097-bf70-afdcfed87503/0bd4f3ce-9e23-4993-bb7f-0a40b4577418/scratch-2026-09-29-b4af05/deck/.build/assets/location-vermilion-256.png">    </p:cNvPr>
          <p:cNvPicPr>
            <a:picLocks noChangeAspect="1"/>
          </p:cNvPicPr>
          <p:nvPr/>
        </p:nvPicPr>
        <p:blipFill>
          <a:blip r:embed="rId3"/>
          <a:stretch>
            <a:fillRect/>
          </a:stretch>
        </p:blipFill>
        <p:spPr>
          <a:xfrm>
            <a:off x="7019235" y="2128389"/>
            <a:ext cx="173736" cy="173736"/>
          </a:xfrm>
          <a:prstGeom prst="rect">
            <a:avLst/>
          </a:prstGeom>
        </p:spPr>
      </p:pic>
      <p:sp>
        <p:nvSpPr>
          <p:cNvPr id="12" name="Text"/>
          <p:cNvSpPr txBox="1"/>
          <p:nvPr/>
        </p:nvSpPr>
        <p:spPr>
          <a:xfrm>
            <a:off x="5588199" y="2219829"/>
            <a:ext cx="1371600" cy="219456"/>
          </a:xfrm>
          <a:prstGeom prst="rect">
            <a:avLst/>
          </a:prstGeom>
          <a:noFill/>
          <a:ln/>
        </p:spPr>
        <p:txBody>
          <a:bodyPr wrap="square" lIns="0" tIns="0" rIns="0" bIns="0" rtlCol="0" anchor="t"/>
          <a:lstStyle/>
          <a:p>
            <a:pPr algn="r" indent="0" marL="0">
              <a:lnSpc>
                <a:spcPct val="100000"/>
              </a:lnSpc>
              <a:buNone/>
            </a:pPr>
            <a:r>
              <a:rPr lang="en-US" sz="800" b="1" spc="100" kern="0" dirty="0">
                <a:solidFill>
                  <a:schemeClr val="bg2"/>
                </a:solidFill>
              </a:rPr>
              <a:t>02  </a:t>
            </a:r>
            <a:pPr algn="r" indent="0" marL="0">
              <a:lnSpc>
                <a:spcPct val="100000"/>
              </a:lnSpc>
              <a:buNone/>
            </a:pPr>
            <a:r>
              <a:rPr lang="en-US" sz="1100" b="1" spc="100" kern="0" dirty="0">
                <a:solidFill>
                  <a:schemeClr val="bg1"/>
                </a:solidFill>
              </a:rPr>
              <a:t>JAIPUR</a:t>
            </a:r>
            <a:endParaRPr lang="en-US" sz="1100" dirty="0"/>
          </a:p>
        </p:txBody>
      </p:sp>
      <p:pic>
        <p:nvPicPr>
          <p:cNvPr id="13" name="Bangalore pin" descr="/Users/xadxtyax/Library/Application Support/Claude/scratch-workspaces/7159731d-a44a-4097-bf70-afdcfed87503/0bd4f3ce-9e23-4993-bb7f-0a40b4577418/scratch-2026-09-29-b4af05/deck/.build/assets/location-vermilion-256.png">    </p:cNvPr>
          <p:cNvPicPr>
            <a:picLocks noChangeAspect="1"/>
          </p:cNvPicPr>
          <p:nvPr/>
        </p:nvPicPr>
        <p:blipFill>
          <a:blip r:embed="rId4"/>
          <a:stretch>
            <a:fillRect/>
          </a:stretch>
        </p:blipFill>
        <p:spPr>
          <a:xfrm>
            <a:off x="7337569" y="4778866"/>
            <a:ext cx="173736" cy="173736"/>
          </a:xfrm>
          <a:prstGeom prst="rect">
            <a:avLst/>
          </a:prstGeom>
        </p:spPr>
      </p:pic>
      <p:sp>
        <p:nvSpPr>
          <p:cNvPr id="14" name="Text"/>
          <p:cNvSpPr txBox="1"/>
          <p:nvPr/>
        </p:nvSpPr>
        <p:spPr>
          <a:xfrm>
            <a:off x="7570741" y="4870306"/>
            <a:ext cx="1371600" cy="219456"/>
          </a:xfrm>
          <a:prstGeom prst="rect">
            <a:avLst/>
          </a:prstGeom>
          <a:noFill/>
          <a:ln/>
        </p:spPr>
        <p:txBody>
          <a:bodyPr wrap="square" lIns="0" tIns="0" rIns="0" bIns="0" rtlCol="0" anchor="t"/>
          <a:lstStyle/>
          <a:p>
            <a:pPr algn="l" indent="0" marL="0">
              <a:lnSpc>
                <a:spcPct val="100000"/>
              </a:lnSpc>
              <a:buNone/>
            </a:pPr>
            <a:r>
              <a:rPr lang="en-US" sz="800" b="1" spc="100" kern="0" dirty="0">
                <a:solidFill>
                  <a:schemeClr val="bg2"/>
                </a:solidFill>
              </a:rPr>
              <a:t>03  </a:t>
            </a:r>
            <a:pPr algn="l" indent="0" marL="0">
              <a:lnSpc>
                <a:spcPct val="100000"/>
              </a:lnSpc>
              <a:buNone/>
            </a:pPr>
            <a:r>
              <a:rPr lang="en-US" sz="1100" b="1" spc="100" kern="0" dirty="0">
                <a:solidFill>
                  <a:schemeClr val="bg1"/>
                </a:solidFill>
              </a:rPr>
              <a:t>BANGALORE</a:t>
            </a:r>
            <a:endParaRPr lang="en-US" sz="1100" dirty="0"/>
          </a:p>
        </p:txBody>
      </p:sp>
      <p:pic>
        <p:nvPicPr>
          <p:cNvPr id="15" name="Chandigarh pin" descr="/Users/xadxtyax/Library/Application Support/Claude/scratch-workspaces/7159731d-a44a-4097-bf70-afdcfed87503/0bd4f3ce-9e23-4993-bb7f-0a40b4577418/scratch-2026-09-29-b4af05/deck/.build/assets/location-vermilion-256.png">    </p:cNvPr>
          <p:cNvPicPr>
            <a:picLocks noChangeAspect="1"/>
          </p:cNvPicPr>
          <p:nvPr/>
        </p:nvPicPr>
        <p:blipFill>
          <a:blip r:embed="rId5"/>
          <a:stretch>
            <a:fillRect/>
          </a:stretch>
        </p:blipFill>
        <p:spPr>
          <a:xfrm>
            <a:off x="7194372" y="1401757"/>
            <a:ext cx="173736" cy="173736"/>
          </a:xfrm>
          <a:prstGeom prst="rect">
            <a:avLst/>
          </a:prstGeom>
        </p:spPr>
      </p:pic>
      <p:sp>
        <p:nvSpPr>
          <p:cNvPr id="16" name="Text"/>
          <p:cNvSpPr txBox="1"/>
          <p:nvPr/>
        </p:nvSpPr>
        <p:spPr>
          <a:xfrm>
            <a:off x="7427544" y="1493197"/>
            <a:ext cx="1371600" cy="219456"/>
          </a:xfrm>
          <a:prstGeom prst="rect">
            <a:avLst/>
          </a:prstGeom>
          <a:noFill/>
          <a:ln/>
        </p:spPr>
        <p:txBody>
          <a:bodyPr wrap="square" lIns="0" tIns="0" rIns="0" bIns="0" rtlCol="0" anchor="t"/>
          <a:lstStyle/>
          <a:p>
            <a:pPr algn="l" indent="0" marL="0">
              <a:lnSpc>
                <a:spcPct val="100000"/>
              </a:lnSpc>
              <a:buNone/>
            </a:pPr>
            <a:r>
              <a:rPr lang="en-US" sz="800" b="1" spc="100" kern="0" dirty="0">
                <a:solidFill>
                  <a:schemeClr val="bg2"/>
                </a:solidFill>
              </a:rPr>
              <a:t>04  </a:t>
            </a:r>
            <a:pPr algn="l" indent="0" marL="0">
              <a:lnSpc>
                <a:spcPct val="100000"/>
              </a:lnSpc>
              <a:buNone/>
            </a:pPr>
            <a:r>
              <a:rPr lang="en-US" sz="1100" b="1" spc="100" kern="0" dirty="0">
                <a:solidFill>
                  <a:schemeClr val="bg1"/>
                </a:solidFill>
              </a:rPr>
              <a:t>CHANDIGARH</a:t>
            </a:r>
            <a:endParaRPr lang="en-US" sz="1100" dirty="0"/>
          </a:p>
        </p:txBody>
      </p:sp>
      <p:pic>
        <p:nvPicPr>
          <p:cNvPr id="17" name="Mumbai pin" descr="/Users/xadxtyax/Library/Application Support/Claude/scratch-workspaces/7159731d-a44a-4097-bf70-afdcfed87503/0bd4f3ce-9e23-4993-bb7f-0a40b4577418/scratch-2026-09-29-b4af05/deck/.build/assets/location-vermilion-256.png">    </p:cNvPr>
          <p:cNvPicPr>
            <a:picLocks noChangeAspect="1"/>
          </p:cNvPicPr>
          <p:nvPr/>
        </p:nvPicPr>
        <p:blipFill>
          <a:blip r:embed="rId6"/>
          <a:stretch>
            <a:fillRect/>
          </a:stretch>
        </p:blipFill>
        <p:spPr>
          <a:xfrm>
            <a:off x="6506600" y="3617852"/>
            <a:ext cx="173736" cy="173736"/>
          </a:xfrm>
          <a:prstGeom prst="rect">
            <a:avLst/>
          </a:prstGeom>
        </p:spPr>
      </p:pic>
      <p:sp>
        <p:nvSpPr>
          <p:cNvPr id="18" name="Text"/>
          <p:cNvSpPr txBox="1"/>
          <p:nvPr/>
        </p:nvSpPr>
        <p:spPr>
          <a:xfrm>
            <a:off x="5075564" y="3709292"/>
            <a:ext cx="1371600" cy="219456"/>
          </a:xfrm>
          <a:prstGeom prst="rect">
            <a:avLst/>
          </a:prstGeom>
          <a:noFill/>
          <a:ln/>
        </p:spPr>
        <p:txBody>
          <a:bodyPr wrap="square" lIns="0" tIns="0" rIns="0" bIns="0" rtlCol="0" anchor="t"/>
          <a:lstStyle/>
          <a:p>
            <a:pPr algn="r" indent="0" marL="0">
              <a:lnSpc>
                <a:spcPct val="100000"/>
              </a:lnSpc>
              <a:buNone/>
            </a:pPr>
            <a:r>
              <a:rPr lang="en-US" sz="800" b="1" spc="100" kern="0" dirty="0">
                <a:solidFill>
                  <a:schemeClr val="bg2"/>
                </a:solidFill>
              </a:rPr>
              <a:t>05  </a:t>
            </a:r>
            <a:pPr algn="r" indent="0" marL="0">
              <a:lnSpc>
                <a:spcPct val="100000"/>
              </a:lnSpc>
              <a:buNone/>
            </a:pPr>
            <a:r>
              <a:rPr lang="en-US" sz="1100" b="1" spc="100" kern="0" dirty="0">
                <a:solidFill>
                  <a:schemeClr val="bg1"/>
                </a:solidFill>
              </a:rPr>
              <a:t>MUMBAI</a:t>
            </a:r>
            <a:endParaRPr lang="en-US" sz="1100" dirty="0"/>
          </a:p>
        </p:txBody>
      </p:sp>
      <p:pic>
        <p:nvPicPr>
          <p:cNvPr id="19" name="Varanasi pin" descr="/Users/xadxtyax/Library/Application Support/Claude/scratch-workspaces/7159731d-a44a-4097-bf70-afdcfed87503/0bd4f3ce-9e23-4993-bb7f-0a40b4577418/scratch-2026-09-29-b4af05/deck/.build/assets/location-vermilion-256.png">    </p:cNvPr>
          <p:cNvPicPr>
            <a:picLocks noChangeAspect="1"/>
          </p:cNvPicPr>
          <p:nvPr/>
        </p:nvPicPr>
        <p:blipFill>
          <a:blip r:embed="rId7"/>
          <a:stretch>
            <a:fillRect/>
          </a:stretch>
        </p:blipFill>
        <p:spPr>
          <a:xfrm>
            <a:off x="8286183" y="2431285"/>
            <a:ext cx="173736" cy="173736"/>
          </a:xfrm>
          <a:prstGeom prst="rect">
            <a:avLst/>
          </a:prstGeom>
        </p:spPr>
      </p:pic>
      <p:sp>
        <p:nvSpPr>
          <p:cNvPr id="20" name="Text"/>
          <p:cNvSpPr txBox="1"/>
          <p:nvPr/>
        </p:nvSpPr>
        <p:spPr>
          <a:xfrm>
            <a:off x="8519355" y="2659885"/>
            <a:ext cx="1371600" cy="219456"/>
          </a:xfrm>
          <a:prstGeom prst="rect">
            <a:avLst/>
          </a:prstGeom>
          <a:noFill/>
          <a:ln/>
        </p:spPr>
        <p:txBody>
          <a:bodyPr wrap="square" lIns="0" tIns="0" rIns="0" bIns="0" rtlCol="0" anchor="t"/>
          <a:lstStyle/>
          <a:p>
            <a:pPr algn="l" indent="0" marL="0">
              <a:lnSpc>
                <a:spcPct val="100000"/>
              </a:lnSpc>
              <a:buNone/>
            </a:pPr>
            <a:r>
              <a:rPr lang="en-US" sz="800" b="1" spc="100" kern="0" dirty="0">
                <a:solidFill>
                  <a:schemeClr val="bg2"/>
                </a:solidFill>
              </a:rPr>
              <a:t>06  </a:t>
            </a:r>
            <a:pPr algn="l" indent="0" marL="0">
              <a:lnSpc>
                <a:spcPct val="100000"/>
              </a:lnSpc>
              <a:buNone/>
            </a:pPr>
            <a:r>
              <a:rPr lang="en-US" sz="1100" b="1" spc="100" kern="0" dirty="0">
                <a:solidFill>
                  <a:schemeClr val="bg1"/>
                </a:solidFill>
              </a:rPr>
              <a:t>VARANASI</a:t>
            </a:r>
            <a:endParaRPr lang="en-US" sz="1100" dirty="0"/>
          </a:p>
        </p:txBody>
      </p:sp>
      <p:pic>
        <p:nvPicPr>
          <p:cNvPr id="21" name="Guwahati pin" descr="/Users/xadxtyax/Library/Application Support/Claude/scratch-workspaces/7159731d-a44a-4097-bf70-afdcfed87503/0bd4f3ce-9e23-4993-bb7f-0a40b4577418/scratch-2026-09-29-b4af05/deck/.build/assets/location-vermilion-256.png">    </p:cNvPr>
          <p:cNvPicPr>
            <a:picLocks noChangeAspect="1"/>
          </p:cNvPicPr>
          <p:nvPr/>
        </p:nvPicPr>
        <p:blipFill>
          <a:blip r:embed="rId8"/>
          <a:stretch>
            <a:fillRect/>
          </a:stretch>
        </p:blipFill>
        <p:spPr>
          <a:xfrm>
            <a:off x="9830476" y="2274248"/>
            <a:ext cx="173736" cy="173736"/>
          </a:xfrm>
          <a:prstGeom prst="rect">
            <a:avLst/>
          </a:prstGeom>
        </p:spPr>
      </p:pic>
      <p:sp>
        <p:nvSpPr>
          <p:cNvPr id="22" name="Text"/>
          <p:cNvSpPr txBox="1"/>
          <p:nvPr/>
        </p:nvSpPr>
        <p:spPr>
          <a:xfrm>
            <a:off x="10063648" y="2365688"/>
            <a:ext cx="1371600" cy="219456"/>
          </a:xfrm>
          <a:prstGeom prst="rect">
            <a:avLst/>
          </a:prstGeom>
          <a:noFill/>
          <a:ln/>
        </p:spPr>
        <p:txBody>
          <a:bodyPr wrap="square" lIns="0" tIns="0" rIns="0" bIns="0" rtlCol="0" anchor="t"/>
          <a:lstStyle/>
          <a:p>
            <a:pPr algn="l" indent="0" marL="0">
              <a:lnSpc>
                <a:spcPct val="100000"/>
              </a:lnSpc>
              <a:buNone/>
            </a:pPr>
            <a:r>
              <a:rPr lang="en-US" sz="800" b="1" spc="100" kern="0" dirty="0">
                <a:solidFill>
                  <a:schemeClr val="bg2"/>
                </a:solidFill>
              </a:rPr>
              <a:t>07  </a:t>
            </a:r>
            <a:pPr algn="l" indent="0" marL="0">
              <a:lnSpc>
                <a:spcPct val="100000"/>
              </a:lnSpc>
              <a:buNone/>
            </a:pPr>
            <a:r>
              <a:rPr lang="en-US" sz="1100" b="1" spc="100" kern="0" dirty="0">
                <a:solidFill>
                  <a:schemeClr val="bg1"/>
                </a:solidFill>
              </a:rPr>
              <a:t>GUWAHATI</a:t>
            </a:r>
            <a:endParaRPr lang="en-US" sz="11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bg1"/>
                </a:solidFill>
              </a:rPr>
              <a:t>The Venue</a:t>
            </a:r>
            <a:endParaRPr lang="en-US" sz="3600" dirty="0"/>
          </a:p>
        </p:txBody>
      </p:sp>
      <p:sp>
        <p:nvSpPr>
          <p:cNvPr id="3" name="THE MAIN FESTIVAL"/>
          <p:cNvSpPr txBox="1"/>
          <p:nvPr/>
        </p:nvSpPr>
        <p:spPr>
          <a:xfrm>
            <a:off x="548640" y="457200"/>
            <a:ext cx="8229600" cy="274320"/>
          </a:xfrm>
          <a:prstGeom prst="rect">
            <a:avLst/>
          </a:prstGeom>
          <a:noFill/>
          <a:ln/>
        </p:spPr>
        <p:txBody>
          <a:bodyPr wrap="square" lIns="0" tIns="0" rIns="0" bIns="0" rtlCol="0" anchor="t"/>
          <a:lstStyle/>
          <a:p>
            <a:pPr algn="l" indent="0" marL="0">
              <a:lnSpc>
                <a:spcPct val="100000"/>
              </a:lnSpc>
              <a:buNone/>
            </a:pPr>
            <a:r>
              <a:rPr lang="en-US" sz="1100" b="1" spc="250" kern="0" dirty="0">
                <a:solidFill>
                  <a:schemeClr val="accent1"/>
                </a:solidFill>
              </a:rPr>
              <a:t>THE MAIN FESTIVAL</a:t>
            </a:r>
            <a:endParaRPr lang="en-US" sz="1100" dirty="0"/>
          </a:p>
        </p:txBody>
      </p:sp>
      <p:pic>
        <p:nvPicPr>
          <p:cNvPr id="4" name="Yashobhoomi" descr="The exterior of Yashobhoomi Convention Center">    </p:cNvPr>
          <p:cNvPicPr>
            <a:picLocks noChangeAspect="1"/>
          </p:cNvPicPr>
          <p:nvPr/>
        </p:nvPicPr>
        <p:blipFill>
          <a:blip r:embed="rId1"/>
          <a:stretch>
            <a:fillRect/>
          </a:stretch>
        </p:blipFill>
        <p:spPr>
          <a:xfrm>
            <a:off x="7116775" y="0"/>
            <a:ext cx="5074920" cy="6858000"/>
          </a:xfrm>
          <a:prstGeom prst="rect">
            <a:avLst/>
          </a:prstGeom>
        </p:spPr>
      </p:pic>
      <p:sp>
        <p:nvSpPr>
          <p:cNvPr id="5" name="Yashobhoomi, Delhi"/>
          <p:cNvSpPr txBox="1"/>
          <p:nvPr/>
        </p:nvSpPr>
        <p:spPr>
          <a:xfrm>
            <a:off x="548640" y="1463040"/>
            <a:ext cx="6035040" cy="502920"/>
          </a:xfrm>
          <a:prstGeom prst="rect">
            <a:avLst/>
          </a:prstGeom>
          <a:noFill/>
          <a:ln/>
        </p:spPr>
        <p:txBody>
          <a:bodyPr wrap="square" lIns="0" tIns="0" rIns="0" bIns="0" rtlCol="0" anchor="t"/>
          <a:lstStyle/>
          <a:p>
            <a:pPr algn="l" indent="0" marL="0">
              <a:lnSpc>
                <a:spcPct val="100000"/>
              </a:lnSpc>
              <a:buNone/>
            </a:pPr>
            <a:r>
              <a:rPr lang="en-US" sz="2600" b="1" dirty="0">
                <a:solidFill>
                  <a:schemeClr val="bg1"/>
                </a:solidFill>
              </a:rPr>
              <a:t>Yashobhoomi, Delhi</a:t>
            </a:r>
            <a:endParaRPr lang="en-US" sz="2600" dirty="0"/>
          </a:p>
        </p:txBody>
      </p:sp>
      <p:sp>
        <p:nvSpPr>
          <p:cNvPr id="6" name="Booked for 20th–21st February 2027"/>
          <p:cNvSpPr txBox="1"/>
          <p:nvPr/>
        </p:nvSpPr>
        <p:spPr>
          <a:xfrm>
            <a:off x="548640" y="1993392"/>
            <a:ext cx="6035040" cy="365760"/>
          </a:xfrm>
          <a:prstGeom prst="rect">
            <a:avLst/>
          </a:prstGeom>
          <a:noFill/>
          <a:ln/>
        </p:spPr>
        <p:txBody>
          <a:bodyPr wrap="square" lIns="0" tIns="0" rIns="0" bIns="0" rtlCol="0" anchor="t"/>
          <a:lstStyle/>
          <a:p>
            <a:pPr algn="l" indent="0" marL="0">
              <a:lnSpc>
                <a:spcPct val="100000"/>
              </a:lnSpc>
              <a:buNone/>
            </a:pPr>
            <a:r>
              <a:rPr lang="en-US" sz="1500" dirty="0">
                <a:solidFill>
                  <a:schemeClr val="bg2"/>
                </a:solidFill>
              </a:rPr>
              <a:t>Booked for 20th–21st February 2027</a:t>
            </a:r>
            <a:endParaRPr lang="en-US" sz="1500" dirty="0"/>
          </a:p>
        </p:txBody>
      </p:sp>
      <p:sp>
        <p:nvSpPr>
          <p:cNvPr id="7" name="Statement"/>
          <p:cNvSpPr txBox="1"/>
          <p:nvPr/>
        </p:nvSpPr>
        <p:spPr>
          <a:xfrm>
            <a:off x="548640" y="3017520"/>
            <a:ext cx="6492240" cy="2194560"/>
          </a:xfrm>
          <a:prstGeom prst="rect">
            <a:avLst/>
          </a:prstGeom>
          <a:noFill/>
          <a:ln/>
        </p:spPr>
        <p:txBody>
          <a:bodyPr wrap="square" lIns="0" tIns="0" rIns="0" bIns="0" rtlCol="0" anchor="t"/>
          <a:lstStyle/>
          <a:p>
            <a:pPr algn="l" indent="0" marL="0">
              <a:lnSpc>
                <a:spcPct val="95000"/>
              </a:lnSpc>
              <a:buNone/>
            </a:pPr>
            <a:r>
              <a:rPr lang="en-US" sz="4600" b="1" dirty="0">
                <a:solidFill>
                  <a:schemeClr val="bg1"/>
                </a:solidFill>
              </a:rPr>
              <a:t>One of India's Most Sought After Spaces</a:t>
            </a:r>
            <a:endParaRPr lang="en-US" sz="4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bg1"/>
                </a:solidFill>
              </a:rPr>
              <a:t>We are making room for something memorable</a:t>
            </a:r>
            <a:endParaRPr lang="en-US" sz="3600" dirty="0"/>
          </a:p>
        </p:txBody>
      </p:sp>
      <p:sp>
        <p:nvSpPr>
          <p:cNvPr id="3" name="With competitions, performances, branded"/>
          <p:cNvSpPr txBox="1"/>
          <p:nvPr/>
        </p:nvSpPr>
        <p:spPr>
          <a:xfrm>
            <a:off x="548640" y="1828800"/>
            <a:ext cx="6949440" cy="457200"/>
          </a:xfrm>
          <a:prstGeom prst="rect">
            <a:avLst/>
          </a:prstGeom>
          <a:noFill/>
          <a:ln/>
        </p:spPr>
        <p:txBody>
          <a:bodyPr wrap="square" lIns="0" tIns="0" rIns="0" bIns="0" rtlCol="0" anchor="t"/>
          <a:lstStyle/>
          <a:p>
            <a:pPr algn="l" indent="0" marL="0">
              <a:lnSpc>
                <a:spcPct val="100000"/>
              </a:lnSpc>
              <a:buNone/>
            </a:pPr>
            <a:r>
              <a:rPr lang="en-US" sz="1700" dirty="0">
                <a:solidFill>
                  <a:schemeClr val="bg1"/>
                </a:solidFill>
              </a:rPr>
              <a:t>With competitions, performances, branded experiences that draw students in.</a:t>
            </a:r>
            <a:endParaRPr lang="en-US" sz="1700" dirty="0"/>
          </a:p>
        </p:txBody>
      </p:sp>
      <p:pic>
        <p:nvPicPr>
          <p:cNvPr id="4" name="Flag planet" descr="/Users/xadxtyax/Library/Application Support/Claude/scratch-workspaces/7159731d-a44a-4097-bf70-afdcfed87503/0bd4f3ce-9e23-4993-bb7f-0a40b4577418/scratch-2026-09-29-b4af05/deck/.build/assets/badge-flag-indigo-1000.png">    </p:cNvPr>
          <p:cNvPicPr>
            <a:picLocks noChangeAspect="1"/>
          </p:cNvPicPr>
          <p:nvPr/>
        </p:nvPicPr>
        <p:blipFill>
          <a:blip r:embed="rId1"/>
          <a:stretch>
            <a:fillRect/>
          </a:stretch>
        </p:blipFill>
        <p:spPr>
          <a:xfrm>
            <a:off x="9784080" y="274320"/>
            <a:ext cx="2011680" cy="2176638"/>
          </a:xfrm>
          <a:prstGeom prst="rect">
            <a:avLst/>
          </a:prstGeom>
        </p:spPr>
      </p:pic>
      <p:pic>
        <p:nvPicPr>
          <p:cNvPr id="5" name="Two performers on a lit stage before a dark arena" descr="Two performers on a lit stage before a dark arena">    </p:cNvPr>
          <p:cNvPicPr>
            <a:picLocks noChangeAspect="1"/>
          </p:cNvPicPr>
          <p:nvPr/>
        </p:nvPicPr>
        <p:blipFill>
          <a:blip r:embed="rId2"/>
          <a:stretch>
            <a:fillRect/>
          </a:stretch>
        </p:blipFill>
        <p:spPr>
          <a:xfrm>
            <a:off x="548640" y="2606040"/>
            <a:ext cx="3017520" cy="3611880"/>
          </a:xfrm>
          <a:prstGeom prst="rect">
            <a:avLst/>
          </a:prstGeom>
        </p:spPr>
      </p:pic>
      <p:pic>
        <p:nvPicPr>
          <p:cNvPr id="6" name="A packed hall facing a lit stage" descr="A packed hall facing a lit stage">    </p:cNvPr>
          <p:cNvPicPr>
            <a:picLocks noChangeAspect="1"/>
          </p:cNvPicPr>
          <p:nvPr/>
        </p:nvPicPr>
        <p:blipFill>
          <a:blip r:embed="rId3"/>
          <a:stretch>
            <a:fillRect/>
          </a:stretch>
        </p:blipFill>
        <p:spPr>
          <a:xfrm>
            <a:off x="3749040" y="2606040"/>
            <a:ext cx="7894015" cy="3611880"/>
          </a:xfrm>
          <a:prstGeom prst="rect">
            <a:avLst/>
          </a:prstGeom>
        </p:spPr>
      </p:pic>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accent1"/>
                </a:solidFill>
              </a:rPr>
              <a:t>18th–19th February 2027</a:t>
            </a:r>
            <a:endParaRPr lang="en-US" sz="3600" dirty="0"/>
          </a:p>
        </p:txBody>
      </p:sp>
      <p:sp>
        <p:nvSpPr>
          <p:cNvPr id="3" name="TWO DAYS ON CAMPUS"/>
          <p:cNvSpPr txBox="1"/>
          <p:nvPr/>
        </p:nvSpPr>
        <p:spPr>
          <a:xfrm>
            <a:off x="548640" y="457200"/>
            <a:ext cx="8229600" cy="274320"/>
          </a:xfrm>
          <a:prstGeom prst="rect">
            <a:avLst/>
          </a:prstGeom>
          <a:noFill/>
          <a:ln/>
        </p:spPr>
        <p:txBody>
          <a:bodyPr wrap="square" lIns="0" tIns="0" rIns="0" bIns="0" rtlCol="0" anchor="t"/>
          <a:lstStyle/>
          <a:p>
            <a:pPr algn="l" indent="0" marL="0">
              <a:lnSpc>
                <a:spcPct val="100000"/>
              </a:lnSpc>
              <a:buNone/>
            </a:pPr>
            <a:r>
              <a:rPr lang="en-US" sz="1100" b="1" spc="250" kern="0" dirty="0">
                <a:solidFill>
                  <a:schemeClr val="accent3"/>
                </a:solidFill>
              </a:rPr>
              <a:t>TWO DAYS ON CAMPUS</a:t>
            </a:r>
            <a:endParaRPr lang="en-US" sz="1100" dirty="0"/>
          </a:p>
        </p:txBody>
      </p:sp>
      <p:sp>
        <p:nvSpPr>
          <p:cNvPr id="4" name="MASTERS' UNION UNIVERSITY ✱ GURUGRAM, IN"/>
          <p:cNvSpPr txBox="1"/>
          <p:nvPr/>
        </p:nvSpPr>
        <p:spPr>
          <a:xfrm>
            <a:off x="548640" y="1600200"/>
            <a:ext cx="5212080" cy="411480"/>
          </a:xfrm>
          <a:prstGeom prst="rect">
            <a:avLst/>
          </a:prstGeom>
          <a:noFill/>
          <a:ln/>
        </p:spPr>
        <p:txBody>
          <a:bodyPr wrap="square" lIns="0" tIns="0" rIns="0" bIns="0" rtlCol="0" anchor="t"/>
          <a:lstStyle/>
          <a:p>
            <a:pPr algn="l" indent="0" marL="0">
              <a:lnSpc>
                <a:spcPct val="100000"/>
              </a:lnSpc>
              <a:buNone/>
            </a:pPr>
            <a:r>
              <a:rPr lang="en-US" sz="1500" b="1" dirty="0">
                <a:solidFill>
                  <a:schemeClr val="bg1"/>
                </a:solidFill>
              </a:rPr>
              <a:t>MASTERS' UNION UNIVERSITY ✱ GURUGRAM, INDIA</a:t>
            </a:r>
            <a:endParaRPr lang="en-US" sz="1500" dirty="0"/>
          </a:p>
        </p:txBody>
      </p:sp>
      <p:pic>
        <p:nvPicPr>
          <p:cNvPr id="5" name="Image" descr="/Users/xadxtyax/Library/Application Support/Claude/scratch-workspaces/7159731d-a44a-4097-bf70-afdcfed87503/0bd4f3ce-9e23-4993-bb7f-0a40b4577418/scratch-2026-09-29-b4af05/deck/.build/assets/location-vermilion-256.png">    </p:cNvPr>
          <p:cNvPicPr>
            <a:picLocks noChangeAspect="1"/>
          </p:cNvPicPr>
          <p:nvPr/>
        </p:nvPicPr>
        <p:blipFill>
          <a:blip r:embed="rId1"/>
          <a:stretch>
            <a:fillRect/>
          </a:stretch>
        </p:blipFill>
        <p:spPr>
          <a:xfrm>
            <a:off x="548640" y="3300984"/>
            <a:ext cx="237744" cy="237744"/>
          </a:xfrm>
          <a:prstGeom prst="rect">
            <a:avLst/>
          </a:prstGeom>
        </p:spPr>
      </p:pic>
      <p:sp>
        <p:nvSpPr>
          <p:cNvPr id="6" name="Text"/>
          <p:cNvSpPr txBox="1"/>
          <p:nvPr/>
        </p:nvSpPr>
        <p:spPr>
          <a:xfrm>
            <a:off x="960120" y="3063240"/>
            <a:ext cx="4754880" cy="1051560"/>
          </a:xfrm>
          <a:prstGeom prst="rect">
            <a:avLst/>
          </a:prstGeom>
          <a:noFill/>
          <a:ln/>
        </p:spPr>
        <p:txBody>
          <a:bodyPr wrap="square" lIns="0" tIns="0" rIns="0" bIns="0" rtlCol="0" anchor="t"/>
          <a:lstStyle/>
          <a:p>
            <a:pPr algn="l" indent="0" marL="0">
              <a:lnSpc>
                <a:spcPct val="110000"/>
              </a:lnSpc>
              <a:buNone/>
            </a:pPr>
            <a:r>
              <a:rPr lang="en-US" sz="1000" b="1" dirty="0">
                <a:solidFill>
                  <a:schemeClr val="accent3"/>
                </a:solidFill>
              </a:rPr>
              <a:t>TWO DAYS ON CAMPUS</a:t>
            </a:r>
            <a:endParaRPr lang="en-US" sz="1300" dirty="0"/>
          </a:p>
          <a:p>
            <a:pPr algn="l" indent="0" marL="0">
              <a:lnSpc>
                <a:spcPct val="110000"/>
              </a:lnSpc>
              <a:buNone/>
            </a:pPr>
            <a:r>
              <a:rPr lang="en-US" sz="1300" b="1" dirty="0">
                <a:solidFill>
                  <a:schemeClr val="accent1"/>
                </a:solidFill>
              </a:rPr>
              <a:t>18TH–19TH FEBRUARY 2027</a:t>
            </a:r>
            <a:endParaRPr lang="en-US" sz="1300" dirty="0"/>
          </a:p>
          <a:p>
            <a:pPr algn="l" indent="0" marL="0">
              <a:lnSpc>
                <a:spcPct val="110000"/>
              </a:lnSpc>
              <a:buNone/>
            </a:pPr>
            <a:r>
              <a:rPr lang="en-US" sz="1300" b="1" dirty="0">
                <a:solidFill>
                  <a:schemeClr val="bg1"/>
                </a:solidFill>
              </a:rPr>
              <a:t>MASTERS' UNION UNIVERSITY ✱ GURUGRAM, INDIA</a:t>
            </a:r>
            <a:endParaRPr lang="en-US" sz="1300" dirty="0"/>
          </a:p>
        </p:txBody>
      </p:sp>
      <p:pic>
        <p:nvPicPr>
          <p:cNvPr id="7" name="Image" descr="/Users/xadxtyax/Library/Application Support/Claude/scratch-workspaces/7159731d-a44a-4097-bf70-afdcfed87503/0bd4f3ce-9e23-4993-bb7f-0a40b4577418/scratch-2026-09-29-b4af05/deck/.build/assets/location-vermilion-256.png">    </p:cNvPr>
          <p:cNvPicPr>
            <a:picLocks noChangeAspect="1"/>
          </p:cNvPicPr>
          <p:nvPr/>
        </p:nvPicPr>
        <p:blipFill>
          <a:blip r:embed="rId2"/>
          <a:stretch>
            <a:fillRect/>
          </a:stretch>
        </p:blipFill>
        <p:spPr>
          <a:xfrm>
            <a:off x="548640" y="4489704"/>
            <a:ext cx="237744" cy="237744"/>
          </a:xfrm>
          <a:prstGeom prst="rect">
            <a:avLst/>
          </a:prstGeom>
        </p:spPr>
      </p:pic>
      <p:sp>
        <p:nvSpPr>
          <p:cNvPr id="8" name="Text"/>
          <p:cNvSpPr txBox="1"/>
          <p:nvPr/>
        </p:nvSpPr>
        <p:spPr>
          <a:xfrm>
            <a:off x="960120" y="4251960"/>
            <a:ext cx="4754880" cy="1051560"/>
          </a:xfrm>
          <a:prstGeom prst="rect">
            <a:avLst/>
          </a:prstGeom>
          <a:noFill/>
          <a:ln/>
        </p:spPr>
        <p:txBody>
          <a:bodyPr wrap="square" lIns="0" tIns="0" rIns="0" bIns="0" rtlCol="0" anchor="t"/>
          <a:lstStyle/>
          <a:p>
            <a:pPr algn="l" indent="0" marL="0">
              <a:lnSpc>
                <a:spcPct val="110000"/>
              </a:lnSpc>
              <a:buNone/>
            </a:pPr>
            <a:r>
              <a:rPr lang="en-US" sz="1000" b="1" dirty="0">
                <a:solidFill>
                  <a:schemeClr val="accent1"/>
                </a:solidFill>
              </a:rPr>
              <a:t>THE MAIN FESTIVAL</a:t>
            </a:r>
            <a:endParaRPr lang="en-US" sz="1300" dirty="0"/>
          </a:p>
          <a:p>
            <a:pPr algn="l" indent="0" marL="0">
              <a:lnSpc>
                <a:spcPct val="110000"/>
              </a:lnSpc>
              <a:buNone/>
            </a:pPr>
            <a:r>
              <a:rPr lang="en-US" sz="1300" b="1" dirty="0">
                <a:solidFill>
                  <a:schemeClr val="accent1"/>
                </a:solidFill>
              </a:rPr>
              <a:t>20TH–21ST FEBRUARY 2027</a:t>
            </a:r>
            <a:endParaRPr lang="en-US" sz="1300" dirty="0"/>
          </a:p>
          <a:p>
            <a:pPr algn="l" indent="0" marL="0">
              <a:lnSpc>
                <a:spcPct val="110000"/>
              </a:lnSpc>
              <a:buNone/>
            </a:pPr>
            <a:r>
              <a:rPr lang="en-US" sz="1300" b="1" dirty="0">
                <a:solidFill>
                  <a:schemeClr val="bg2"/>
                </a:solidFill>
              </a:rPr>
              <a:t>YASHOBHOOMI CONVENTION CENTRE ✱ DELHI, INDIA</a:t>
            </a:r>
            <a:endParaRPr lang="en-US" sz="1300" dirty="0"/>
          </a:p>
        </p:txBody>
      </p:sp>
      <p:pic>
        <p:nvPicPr>
          <p:cNvPr id="9" name="Campus tour" descr="Masters' Union Campus Tour 2026">
            <a:hlinkClick r:id="rId4" tooltip="Masters' Union Campus Tour 2026"/>
          </p:cNvPr>
          <p:cNvPicPr>
            <a:picLocks noChangeAspect="1"/>
          </p:cNvPicPr>
          <p:nvPr/>
        </p:nvPicPr>
        <p:blipFill>
          <a:blip r:embed="rId3"/>
          <a:stretch>
            <a:fillRect/>
          </a:stretch>
        </p:blipFill>
        <p:spPr>
          <a:xfrm>
            <a:off x="5897880" y="1051560"/>
            <a:ext cx="5745175" cy="3231661"/>
          </a:xfrm>
          <a:prstGeom prst="rect">
            <a:avLst/>
          </a:prstGeom>
        </p:spPr>
      </p:pic>
      <p:sp>
        <p:nvSpPr>
          <p:cNvPr id="10" name="Play">
            <a:hlinkClick r:id="rId5" tooltip=""/>
          </p:cNvPr>
          <p:cNvSpPr/>
          <p:nvPr/>
        </p:nvSpPr>
        <p:spPr>
          <a:xfrm>
            <a:off x="8313268" y="2301631"/>
            <a:ext cx="914400" cy="731520"/>
          </a:xfrm>
          <a:custGeom>
            <a:avLst/>
            <a:gdLst/>
            <a:ahLst/>
            <a:cxnLst/>
            <a:rect l="l" t="t" r="r" b="b"/>
            <a:pathLst>
              <a:path w="914400" h="731520">
                <a:moveTo>
                  <a:pt x="0" y="54864"/>
                </a:moveTo>
                <a:lnTo>
                  <a:pt x="881482" y="0"/>
                </a:lnTo>
                <a:lnTo>
                  <a:pt x="914400" y="676656"/>
                </a:lnTo>
                <a:lnTo>
                  <a:pt x="32918" y="731520"/>
                </a:lnTo>
                <a:close/>
              </a:path>
            </a:pathLst>
          </a:custGeom>
          <a:solidFill>
            <a:schemeClr val="tx1"/>
          </a:solidFill>
          <a:ln/>
        </p:spPr>
      </p:sp>
      <p:pic>
        <p:nvPicPr>
          <p:cNvPr id="11" name="Image" descr="/Users/xadxtyax/Library/Application Support/Claude/scratch-workspaces/7159731d-a44a-4097-bf70-afdcfed87503/0bd4f3ce-9e23-4993-bb7f-0a40b4577418/scratch-2026-09-29-b4af05/deck/.build/assets/forward-cyan-256.png">
            <a:hlinkClick r:id="rId7" tooltip=""/>
          </p:cNvPr>
          <p:cNvPicPr>
            <a:picLocks noChangeAspect="1"/>
          </p:cNvPicPr>
          <p:nvPr/>
        </p:nvPicPr>
        <p:blipFill>
          <a:blip r:embed="rId6"/>
          <a:stretch>
            <a:fillRect/>
          </a:stretch>
        </p:blipFill>
        <p:spPr>
          <a:xfrm>
            <a:off x="8615020" y="2511943"/>
            <a:ext cx="310896" cy="310896"/>
          </a:xfrm>
          <a:prstGeom prst="rect">
            <a:avLst/>
          </a:prstGeom>
        </p:spPr>
      </p:pic>
      <p:sp>
        <p:nvSpPr>
          <p:cNvPr id="12" name="Text"/>
          <p:cNvSpPr txBox="1"/>
          <p:nvPr/>
        </p:nvSpPr>
        <p:spPr>
          <a:xfrm>
            <a:off x="5897880" y="4420381"/>
            <a:ext cx="5745175" cy="320040"/>
          </a:xfrm>
          <a:prstGeom prst="rect">
            <a:avLst/>
          </a:prstGeom>
          <a:noFill/>
          <a:ln/>
        </p:spPr>
        <p:txBody>
          <a:bodyPr wrap="square" lIns="0" tIns="0" rIns="0" bIns="0" rtlCol="0" anchor="t"/>
          <a:lstStyle/>
          <a:p>
            <a:pPr algn="l" indent="0" marL="0">
              <a:lnSpc>
                <a:spcPct val="100000"/>
              </a:lnSpc>
              <a:buNone/>
            </a:pPr>
            <a:r>
              <a:rPr lang="en-US" sz="1200" u="sng" dirty="0">
                <a:solidFill>
                  <a:schemeClr val="bg2"/>
                </a:solidFill>
                <a:hlinkClick r:id="rId8" invalidUrl="" action="" tgtFrame="" tooltip="" history="1" highlightClick="0" endSnd="0">
                  <a:extLst>
                    <a:ext uri="{A12FA001-AC4F-418D-AE19-62706E023703}">
                      <ahyp:hlinkClr xmlns:ahyp="http://schemas.microsoft.com/office/drawing/2018/hyperlinkcolor" val="tx"/>
                    </a:ext>
                  </a:extLst>
                </a:hlinkClick>
              </a:rPr>
              <a:t>Masters' Union Campus Tour 2026  ·  watch on YouTube</a:t>
            </a:r>
            <a:endParaRPr lang="en-US" sz="12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tx1"/>
                </a:solidFill>
              </a:rPr>
              <a:t>The Audience</a:t>
            </a:r>
            <a:endParaRPr lang="en-US" sz="3600" dirty="0"/>
          </a:p>
        </p:txBody>
      </p:sp>
      <p:sp>
        <p:nvSpPr>
          <p:cNvPr id="3" name="Text"/>
          <p:cNvSpPr txBox="1"/>
          <p:nvPr/>
        </p:nvSpPr>
        <p:spPr>
          <a:xfrm>
            <a:off x="548640" y="1828800"/>
            <a:ext cx="4754880" cy="1371600"/>
          </a:xfrm>
          <a:prstGeom prst="rect">
            <a:avLst/>
          </a:prstGeom>
          <a:noFill/>
          <a:ln/>
        </p:spPr>
        <p:txBody>
          <a:bodyPr wrap="square" lIns="0" tIns="0" rIns="0" bIns="0" rtlCol="0" anchor="t"/>
          <a:lstStyle/>
          <a:p>
            <a:pPr algn="l" indent="0" marL="0">
              <a:lnSpc>
                <a:spcPct val="100000"/>
              </a:lnSpc>
              <a:buNone/>
            </a:pPr>
            <a:r>
              <a:rPr lang="en-US" sz="2400" b="1" dirty="0">
                <a:solidFill>
                  <a:schemeClr val="tx1"/>
                </a:solidFill>
              </a:rPr>
              <a:t>They’re finding themselves.</a:t>
            </a:r>
            <a:endParaRPr lang="en-US" sz="2400" dirty="0"/>
          </a:p>
          <a:p>
            <a:pPr algn="l" indent="0" marL="0">
              <a:lnSpc>
                <a:spcPct val="100000"/>
              </a:lnSpc>
              <a:buNone/>
            </a:pPr>
            <a:r>
              <a:rPr lang="en-US" sz="2400" b="1" dirty="0">
                <a:solidFill>
                  <a:schemeClr val="tx1"/>
                </a:solidFill>
              </a:rPr>
              <a:t>Their tastes.</a:t>
            </a:r>
            <a:endParaRPr lang="en-US" sz="2400" dirty="0"/>
          </a:p>
          <a:p>
            <a:pPr algn="l" indent="0" marL="0">
              <a:lnSpc>
                <a:spcPct val="100000"/>
              </a:lnSpc>
              <a:buNone/>
            </a:pPr>
            <a:r>
              <a:rPr lang="en-US" sz="2400" b="1" dirty="0">
                <a:solidFill>
                  <a:schemeClr val="tx1"/>
                </a:solidFill>
              </a:rPr>
              <a:t>Their next favourite brands.</a:t>
            </a:r>
            <a:endParaRPr lang="en-US" sz="2400" dirty="0"/>
          </a:p>
        </p:txBody>
      </p:sp>
      <p:sp>
        <p:nvSpPr>
          <p:cNvPr id="4" name="College students between 18 to 22 are co"/>
          <p:cNvSpPr txBox="1"/>
          <p:nvPr/>
        </p:nvSpPr>
        <p:spPr>
          <a:xfrm>
            <a:off x="548640" y="3429000"/>
            <a:ext cx="4480560" cy="109728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College students between 18 to 22 are coming together around what they love.</a:t>
            </a:r>
            <a:endParaRPr lang="en-US" sz="1700" dirty="0"/>
          </a:p>
        </p:txBody>
      </p:sp>
      <p:pic>
        <p:nvPicPr>
          <p:cNvPr id="5" name="A performer on stage in coloured smoke" descr="A performer on stage in coloured smoke">    </p:cNvPr>
          <p:cNvPicPr>
            <a:picLocks noChangeAspect="1"/>
          </p:cNvPicPr>
          <p:nvPr/>
        </p:nvPicPr>
        <p:blipFill>
          <a:blip r:embed="rId1"/>
          <a:stretch>
            <a:fillRect/>
          </a:stretch>
        </p:blipFill>
        <p:spPr>
          <a:xfrm>
            <a:off x="5532120" y="548640"/>
            <a:ext cx="3000604" cy="2756916"/>
          </a:xfrm>
          <a:prstGeom prst="rect">
            <a:avLst/>
          </a:prstGeom>
        </p:spPr>
      </p:pic>
      <p:pic>
        <p:nvPicPr>
          <p:cNvPr id="6" name="A crowd under stage lights and green smoke at night" descr="A crowd under stage lights and green smoke at night">    </p:cNvPr>
          <p:cNvPicPr>
            <a:picLocks noChangeAspect="1"/>
          </p:cNvPicPr>
          <p:nvPr/>
        </p:nvPicPr>
        <p:blipFill>
          <a:blip r:embed="rId2"/>
          <a:stretch>
            <a:fillRect/>
          </a:stretch>
        </p:blipFill>
        <p:spPr>
          <a:xfrm>
            <a:off x="8642452" y="548640"/>
            <a:ext cx="3000604" cy="2756916"/>
          </a:xfrm>
          <a:prstGeom prst="rect">
            <a:avLst/>
          </a:prstGeom>
        </p:spPr>
      </p:pic>
      <p:pic>
        <p:nvPicPr>
          <p:cNvPr id="7" name="A dance troupe performing on a lit stage" descr="A dance troupe performing on a lit stage">    </p:cNvPr>
          <p:cNvPicPr>
            <a:picLocks noChangeAspect="1"/>
          </p:cNvPicPr>
          <p:nvPr/>
        </p:nvPicPr>
        <p:blipFill>
          <a:blip r:embed="rId3"/>
          <a:stretch>
            <a:fillRect/>
          </a:stretch>
        </p:blipFill>
        <p:spPr>
          <a:xfrm>
            <a:off x="5532120" y="3415284"/>
            <a:ext cx="3788780" cy="2756916"/>
          </a:xfrm>
          <a:prstGeom prst="rect">
            <a:avLst/>
          </a:prstGeom>
        </p:spPr>
      </p:pic>
      <p:pic>
        <p:nvPicPr>
          <p:cNvPr id="8" name="A Masters' Union fan club cheering with placards" descr="A Masters' Union fan club cheering with placards">    </p:cNvPr>
          <p:cNvPicPr>
            <a:picLocks noChangeAspect="1"/>
          </p:cNvPicPr>
          <p:nvPr/>
        </p:nvPicPr>
        <p:blipFill>
          <a:blip r:embed="rId4"/>
          <a:stretch>
            <a:fillRect/>
          </a:stretch>
        </p:blipFill>
        <p:spPr>
          <a:xfrm>
            <a:off x="9430628" y="3415284"/>
            <a:ext cx="2212427" cy="2756916"/>
          </a:xfrm>
          <a:prstGeom prst="rect">
            <a:avLst/>
          </a:prstGeom>
        </p:spPr>
      </p:pic>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1"/>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tx1"/>
                </a:solidFill>
              </a:rPr>
              <a:t>Your brand can be part of their experience</a:t>
            </a:r>
            <a:endParaRPr lang="en-US" sz="3600" dirty="0"/>
          </a:p>
        </p:txBody>
      </p:sp>
      <p:pic>
        <p:nvPicPr>
          <p:cNvPr id="3" name="Shooting star" descr="/Users/xadxtyax/Library/Application Support/Claude/scratch-workspaces/7159731d-a44a-4097-bf70-afdcfed87503/0bd4f3ce-9e23-4993-bb7f-0a40b4577418/scratch-2026-09-29-b4af05/deck/.build/assets/shooting-star-1-black-1200.png">    </p:cNvPr>
          <p:cNvPicPr>
            <a:picLocks noChangeAspect="1"/>
          </p:cNvPicPr>
          <p:nvPr/>
        </p:nvPicPr>
        <p:blipFill>
          <a:blip r:embed="rId1"/>
          <a:stretch>
            <a:fillRect/>
          </a:stretch>
        </p:blipFill>
        <p:spPr>
          <a:xfrm>
            <a:off x="9418320" y="411480"/>
            <a:ext cx="2240280" cy="1489786"/>
          </a:xfrm>
          <a:prstGeom prst="rect">
            <a:avLst/>
          </a:prstGeom>
        </p:spPr>
      </p:pic>
      <p:sp>
        <p:nvSpPr>
          <p:cNvPr id="4" name="Ways in"/>
          <p:cNvSpPr txBox="1"/>
          <p:nvPr/>
        </p:nvSpPr>
        <p:spPr>
          <a:xfrm>
            <a:off x="548640" y="2331720"/>
            <a:ext cx="11094415" cy="3566160"/>
          </a:xfrm>
          <a:prstGeom prst="rect">
            <a:avLst/>
          </a:prstGeom>
          <a:noFill/>
          <a:ln/>
        </p:spPr>
        <p:txBody>
          <a:bodyPr wrap="square" lIns="0" tIns="0" rIns="0" bIns="0" rtlCol="0" anchor="t"/>
          <a:lstStyle/>
          <a:p>
            <a:pPr algn="l" indent="0" marL="0">
              <a:lnSpc>
                <a:spcPct val="115000"/>
              </a:lnSpc>
              <a:buNone/>
            </a:pPr>
            <a:r>
              <a:rPr lang="en-US" sz="4000" b="1" dirty="0">
                <a:solidFill>
                  <a:schemeClr val="tx1"/>
                </a:solidFill>
              </a:rPr>
              <a:t>THROUGH A </a:t>
            </a:r>
            <a:pPr algn="l" indent="0" marL="0">
              <a:lnSpc>
                <a:spcPct val="115000"/>
              </a:lnSpc>
              <a:buNone/>
            </a:pPr>
            <a:r>
              <a:rPr lang="en-US" sz="4000" b="1" dirty="0">
                <a:solidFill>
                  <a:schemeClr val="accent1"/>
                </a:solidFill>
                <a:highlight>
                  <a:srgbClr val="161417"/>
                </a:highlight>
              </a:rPr>
              <a:t> PRODUCT </a:t>
            </a:r>
            <a:pPr algn="l" indent="0" marL="0">
              <a:lnSpc>
                <a:spcPct val="115000"/>
              </a:lnSpc>
              <a:buNone/>
            </a:pPr>
            <a:r>
              <a:rPr lang="en-US" sz="4000" b="1" dirty="0">
                <a:solidFill>
                  <a:schemeClr val="tx1"/>
                </a:solidFill>
              </a:rPr>
              <a:t> THEY TRY,</a:t>
            </a:r>
            <a:endParaRPr lang="en-US" sz="4000" dirty="0"/>
          </a:p>
          <a:p>
            <a:pPr algn="l" indent="0" marL="0">
              <a:lnSpc>
                <a:spcPct val="115000"/>
              </a:lnSpc>
              <a:buNone/>
            </a:pPr>
            <a:r>
              <a:rPr lang="en-US" sz="4000" b="1" dirty="0">
                <a:solidFill>
                  <a:schemeClr val="tx1"/>
                </a:solidFill>
              </a:rPr>
              <a:t>AN </a:t>
            </a:r>
            <a:pPr algn="l" indent="0" marL="0">
              <a:lnSpc>
                <a:spcPct val="115000"/>
              </a:lnSpc>
              <a:buNone/>
            </a:pPr>
            <a:r>
              <a:rPr lang="en-US" sz="4000" b="1" dirty="0">
                <a:solidFill>
                  <a:schemeClr val="accent1"/>
                </a:solidFill>
                <a:highlight>
                  <a:srgbClr val="161417"/>
                </a:highlight>
              </a:rPr>
              <a:t> EXPERIENCE </a:t>
            </a:r>
            <a:pPr algn="l" indent="0" marL="0">
              <a:lnSpc>
                <a:spcPct val="115000"/>
              </a:lnSpc>
              <a:buNone/>
            </a:pPr>
            <a:r>
              <a:rPr lang="en-US" sz="4000" b="1" dirty="0">
                <a:solidFill>
                  <a:schemeClr val="tx1"/>
                </a:solidFill>
              </a:rPr>
              <a:t> THEY JOIN</a:t>
            </a:r>
            <a:endParaRPr lang="en-US" sz="4000" dirty="0"/>
          </a:p>
          <a:p>
            <a:pPr algn="l" indent="0" marL="0">
              <a:lnSpc>
                <a:spcPct val="115000"/>
              </a:lnSpc>
              <a:buNone/>
            </a:pPr>
            <a:r>
              <a:rPr lang="en-US" sz="4000" b="1" dirty="0">
                <a:solidFill>
                  <a:schemeClr val="tx1"/>
                </a:solidFill>
              </a:rPr>
              <a:t>OR A </a:t>
            </a:r>
            <a:pPr algn="l" indent="0" marL="0">
              <a:lnSpc>
                <a:spcPct val="115000"/>
              </a:lnSpc>
              <a:buNone/>
            </a:pPr>
            <a:r>
              <a:rPr lang="en-US" sz="4000" b="1" dirty="0">
                <a:solidFill>
                  <a:schemeClr val="accent1"/>
                </a:solidFill>
                <a:highlight>
                  <a:srgbClr val="161417"/>
                </a:highlight>
              </a:rPr>
              <a:t> COMPETITION </a:t>
            </a:r>
            <a:pPr algn="l" indent="0" marL="0">
              <a:lnSpc>
                <a:spcPct val="115000"/>
              </a:lnSpc>
              <a:buNone/>
            </a:pPr>
            <a:r>
              <a:rPr lang="en-US" sz="4000" b="1" dirty="0">
                <a:solidFill>
                  <a:schemeClr val="tx1"/>
                </a:solidFill>
              </a:rPr>
              <a:t> YOU HELP BRING TO LIFE.</a:t>
            </a:r>
            <a:endParaRPr lang="en-US" sz="40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1"/>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bg1"/>
                </a:solidFill>
              </a:rPr>
              <a:t>We’ve Learned From the Best</a:t>
            </a:r>
            <a:endParaRPr lang="en-US" sz="3600" dirty="0"/>
          </a:p>
        </p:txBody>
      </p:sp>
      <p:sp>
        <p:nvSpPr>
          <p:cNvPr id="3" name="Guests who have spoken at Masters' Union"/>
          <p:cNvSpPr txBox="1"/>
          <p:nvPr/>
        </p:nvSpPr>
        <p:spPr>
          <a:xfrm>
            <a:off x="548640" y="1417320"/>
            <a:ext cx="8229600" cy="365760"/>
          </a:xfrm>
          <a:prstGeom prst="rect">
            <a:avLst/>
          </a:prstGeom>
          <a:noFill/>
          <a:ln/>
        </p:spPr>
        <p:txBody>
          <a:bodyPr wrap="square" lIns="0" tIns="0" rIns="0" bIns="0" rtlCol="0" anchor="t"/>
          <a:lstStyle/>
          <a:p>
            <a:pPr algn="l" indent="0" marL="0">
              <a:lnSpc>
                <a:spcPct val="100000"/>
              </a:lnSpc>
              <a:buNone/>
            </a:pPr>
            <a:r>
              <a:rPr lang="en-US" sz="1600" dirty="0">
                <a:solidFill>
                  <a:schemeClr val="bg1"/>
                </a:solidFill>
              </a:rPr>
              <a:t>Guests who have spoken at Masters' Union</a:t>
            </a:r>
            <a:endParaRPr lang="en-US" sz="1600" dirty="0"/>
          </a:p>
        </p:txBody>
      </p:sp>
      <p:pic>
        <p:nvPicPr>
          <p:cNvPr id="4" name="Rohit Sharma" descr="Rohit Sharma">    </p:cNvPr>
          <p:cNvPicPr>
            <a:picLocks noChangeAspect="1"/>
          </p:cNvPicPr>
          <p:nvPr/>
        </p:nvPicPr>
        <p:blipFill>
          <a:blip r:embed="rId1"/>
          <a:stretch>
            <a:fillRect/>
          </a:stretch>
        </p:blipFill>
        <p:spPr>
          <a:xfrm>
            <a:off x="548640" y="2011680"/>
            <a:ext cx="2331720" cy="1645920"/>
          </a:xfrm>
          <a:prstGeom prst="rect">
            <a:avLst/>
          </a:prstGeom>
        </p:spPr>
      </p:pic>
      <p:sp>
        <p:nvSpPr>
          <p:cNvPr id="5" name="Rohit Sharma"/>
          <p:cNvSpPr txBox="1"/>
          <p:nvPr/>
        </p:nvSpPr>
        <p:spPr>
          <a:xfrm>
            <a:off x="548640" y="3721608"/>
            <a:ext cx="2331720" cy="320040"/>
          </a:xfrm>
          <a:prstGeom prst="rect">
            <a:avLst/>
          </a:prstGeom>
          <a:noFill/>
          <a:ln/>
        </p:spPr>
        <p:txBody>
          <a:bodyPr wrap="square" lIns="0" tIns="0" rIns="0" bIns="0" rtlCol="0" anchor="t"/>
          <a:lstStyle/>
          <a:p>
            <a:pPr algn="l" indent="0" marL="0">
              <a:lnSpc>
                <a:spcPct val="100000"/>
              </a:lnSpc>
              <a:buNone/>
            </a:pPr>
            <a:r>
              <a:rPr lang="en-US" sz="1400" b="1" dirty="0">
                <a:solidFill>
                  <a:schemeClr val="bg1"/>
                </a:solidFill>
              </a:rPr>
              <a:t>Rohit Sharma</a:t>
            </a:r>
            <a:endParaRPr lang="en-US" sz="1400" dirty="0"/>
          </a:p>
        </p:txBody>
      </p:sp>
      <p:pic>
        <p:nvPicPr>
          <p:cNvPr id="6" name="Samay Raina" descr="Samay Raina">    </p:cNvPr>
          <p:cNvPicPr>
            <a:picLocks noChangeAspect="1"/>
          </p:cNvPicPr>
          <p:nvPr/>
        </p:nvPicPr>
        <p:blipFill>
          <a:blip r:embed="rId2"/>
          <a:stretch>
            <a:fillRect/>
          </a:stretch>
        </p:blipFill>
        <p:spPr>
          <a:xfrm>
            <a:off x="3108960" y="2011680"/>
            <a:ext cx="2331720" cy="1645920"/>
          </a:xfrm>
          <a:prstGeom prst="rect">
            <a:avLst/>
          </a:prstGeom>
        </p:spPr>
      </p:pic>
      <p:sp>
        <p:nvSpPr>
          <p:cNvPr id="7" name="Samay Raina"/>
          <p:cNvSpPr txBox="1"/>
          <p:nvPr/>
        </p:nvSpPr>
        <p:spPr>
          <a:xfrm>
            <a:off x="3108960" y="3721608"/>
            <a:ext cx="2331720" cy="320040"/>
          </a:xfrm>
          <a:prstGeom prst="rect">
            <a:avLst/>
          </a:prstGeom>
          <a:noFill/>
          <a:ln/>
        </p:spPr>
        <p:txBody>
          <a:bodyPr wrap="square" lIns="0" tIns="0" rIns="0" bIns="0" rtlCol="0" anchor="t"/>
          <a:lstStyle/>
          <a:p>
            <a:pPr algn="l" indent="0" marL="0">
              <a:lnSpc>
                <a:spcPct val="100000"/>
              </a:lnSpc>
              <a:buNone/>
            </a:pPr>
            <a:r>
              <a:rPr lang="en-US" sz="1400" b="1" dirty="0">
                <a:solidFill>
                  <a:schemeClr val="bg1"/>
                </a:solidFill>
              </a:rPr>
              <a:t>Samay Raina</a:t>
            </a:r>
            <a:endParaRPr lang="en-US" sz="1400" dirty="0"/>
          </a:p>
        </p:txBody>
      </p:sp>
      <p:pic>
        <p:nvPicPr>
          <p:cNvPr id="8" name="Tanmay Bhat" descr="Tanmay Bhat">    </p:cNvPr>
          <p:cNvPicPr>
            <a:picLocks noChangeAspect="1"/>
          </p:cNvPicPr>
          <p:nvPr/>
        </p:nvPicPr>
        <p:blipFill>
          <a:blip r:embed="rId3"/>
          <a:stretch>
            <a:fillRect/>
          </a:stretch>
        </p:blipFill>
        <p:spPr>
          <a:xfrm>
            <a:off x="5669280" y="2011680"/>
            <a:ext cx="2331720" cy="1645920"/>
          </a:xfrm>
          <a:prstGeom prst="rect">
            <a:avLst/>
          </a:prstGeom>
        </p:spPr>
      </p:pic>
      <p:sp>
        <p:nvSpPr>
          <p:cNvPr id="9" name="Tanmay Bhat"/>
          <p:cNvSpPr txBox="1"/>
          <p:nvPr/>
        </p:nvSpPr>
        <p:spPr>
          <a:xfrm>
            <a:off x="5669280" y="3721608"/>
            <a:ext cx="2331720" cy="320040"/>
          </a:xfrm>
          <a:prstGeom prst="rect">
            <a:avLst/>
          </a:prstGeom>
          <a:noFill/>
          <a:ln/>
        </p:spPr>
        <p:txBody>
          <a:bodyPr wrap="square" lIns="0" tIns="0" rIns="0" bIns="0" rtlCol="0" anchor="t"/>
          <a:lstStyle/>
          <a:p>
            <a:pPr algn="l" indent="0" marL="0">
              <a:lnSpc>
                <a:spcPct val="100000"/>
              </a:lnSpc>
              <a:buNone/>
            </a:pPr>
            <a:r>
              <a:rPr lang="en-US" sz="1400" b="1" dirty="0">
                <a:solidFill>
                  <a:schemeClr val="bg1"/>
                </a:solidFill>
              </a:rPr>
              <a:t>Tanmay Bhat</a:t>
            </a:r>
            <a:endParaRPr lang="en-US" sz="1400" dirty="0"/>
          </a:p>
        </p:txBody>
      </p:sp>
      <p:pic>
        <p:nvPicPr>
          <p:cNvPr id="10" name="Sahiba Bali" descr="Sahiba Bali">    </p:cNvPr>
          <p:cNvPicPr>
            <a:picLocks noChangeAspect="1"/>
          </p:cNvPicPr>
          <p:nvPr/>
        </p:nvPicPr>
        <p:blipFill>
          <a:blip r:embed="rId4"/>
          <a:stretch>
            <a:fillRect/>
          </a:stretch>
        </p:blipFill>
        <p:spPr>
          <a:xfrm>
            <a:off x="8229600" y="2011680"/>
            <a:ext cx="2331720" cy="1645920"/>
          </a:xfrm>
          <a:prstGeom prst="rect">
            <a:avLst/>
          </a:prstGeom>
        </p:spPr>
      </p:pic>
      <p:sp>
        <p:nvSpPr>
          <p:cNvPr id="11" name="Sahiba Bali"/>
          <p:cNvSpPr txBox="1"/>
          <p:nvPr/>
        </p:nvSpPr>
        <p:spPr>
          <a:xfrm>
            <a:off x="8229600" y="3721608"/>
            <a:ext cx="2331720" cy="320040"/>
          </a:xfrm>
          <a:prstGeom prst="rect">
            <a:avLst/>
          </a:prstGeom>
          <a:noFill/>
          <a:ln/>
        </p:spPr>
        <p:txBody>
          <a:bodyPr wrap="square" lIns="0" tIns="0" rIns="0" bIns="0" rtlCol="0" anchor="t"/>
          <a:lstStyle/>
          <a:p>
            <a:pPr algn="l" indent="0" marL="0">
              <a:lnSpc>
                <a:spcPct val="100000"/>
              </a:lnSpc>
              <a:buNone/>
            </a:pPr>
            <a:r>
              <a:rPr lang="en-US" sz="1400" b="1" dirty="0">
                <a:solidFill>
                  <a:schemeClr val="bg1"/>
                </a:solidFill>
              </a:rPr>
              <a:t>Sahiba Bali</a:t>
            </a:r>
            <a:endParaRPr lang="en-US" sz="1400" dirty="0"/>
          </a:p>
        </p:txBody>
      </p:sp>
      <p:pic>
        <p:nvPicPr>
          <p:cNvPr id="12" name="Nuseir Yasin" descr="Nuseir Yasin">    </p:cNvPr>
          <p:cNvPicPr>
            <a:picLocks noChangeAspect="1"/>
          </p:cNvPicPr>
          <p:nvPr/>
        </p:nvPicPr>
        <p:blipFill>
          <a:blip r:embed="rId5"/>
          <a:stretch>
            <a:fillRect/>
          </a:stretch>
        </p:blipFill>
        <p:spPr>
          <a:xfrm>
            <a:off x="548640" y="4114800"/>
            <a:ext cx="2331720" cy="1645920"/>
          </a:xfrm>
          <a:prstGeom prst="rect">
            <a:avLst/>
          </a:prstGeom>
        </p:spPr>
      </p:pic>
      <p:sp>
        <p:nvSpPr>
          <p:cNvPr id="13" name="Nuseir Yasin"/>
          <p:cNvSpPr txBox="1"/>
          <p:nvPr/>
        </p:nvSpPr>
        <p:spPr>
          <a:xfrm>
            <a:off x="548640" y="5824728"/>
            <a:ext cx="2331720" cy="320040"/>
          </a:xfrm>
          <a:prstGeom prst="rect">
            <a:avLst/>
          </a:prstGeom>
          <a:noFill/>
          <a:ln/>
        </p:spPr>
        <p:txBody>
          <a:bodyPr wrap="square" lIns="0" tIns="0" rIns="0" bIns="0" rtlCol="0" anchor="t"/>
          <a:lstStyle/>
          <a:p>
            <a:pPr algn="l" indent="0" marL="0">
              <a:lnSpc>
                <a:spcPct val="100000"/>
              </a:lnSpc>
              <a:buNone/>
            </a:pPr>
            <a:r>
              <a:rPr lang="en-US" sz="1400" b="1" dirty="0">
                <a:solidFill>
                  <a:schemeClr val="bg1"/>
                </a:solidFill>
              </a:rPr>
              <a:t>Nuseir Yasin</a:t>
            </a:r>
            <a:endParaRPr lang="en-US" sz="1400" dirty="0"/>
          </a:p>
        </p:txBody>
      </p:sp>
      <p:pic>
        <p:nvPicPr>
          <p:cNvPr id="14" name="Ganeshprasad Sridharan" descr="Ganeshprasad Sridharan">    </p:cNvPr>
          <p:cNvPicPr>
            <a:picLocks noChangeAspect="1"/>
          </p:cNvPicPr>
          <p:nvPr/>
        </p:nvPicPr>
        <p:blipFill>
          <a:blip r:embed="rId6"/>
          <a:stretch>
            <a:fillRect/>
          </a:stretch>
        </p:blipFill>
        <p:spPr>
          <a:xfrm>
            <a:off x="3108960" y="4114800"/>
            <a:ext cx="2331720" cy="1645920"/>
          </a:xfrm>
          <a:prstGeom prst="rect">
            <a:avLst/>
          </a:prstGeom>
        </p:spPr>
      </p:pic>
      <p:sp>
        <p:nvSpPr>
          <p:cNvPr id="15" name="Ganeshprasad Sridharan"/>
          <p:cNvSpPr txBox="1"/>
          <p:nvPr/>
        </p:nvSpPr>
        <p:spPr>
          <a:xfrm>
            <a:off x="3108960" y="5824728"/>
            <a:ext cx="2331720" cy="320040"/>
          </a:xfrm>
          <a:prstGeom prst="rect">
            <a:avLst/>
          </a:prstGeom>
          <a:noFill/>
          <a:ln/>
        </p:spPr>
        <p:txBody>
          <a:bodyPr wrap="square" lIns="0" tIns="0" rIns="0" bIns="0" rtlCol="0" anchor="t"/>
          <a:lstStyle/>
          <a:p>
            <a:pPr algn="l" indent="0" marL="0">
              <a:lnSpc>
                <a:spcPct val="100000"/>
              </a:lnSpc>
              <a:buNone/>
            </a:pPr>
            <a:r>
              <a:rPr lang="en-US" sz="1400" b="1" dirty="0">
                <a:solidFill>
                  <a:schemeClr val="bg1"/>
                </a:solidFill>
              </a:rPr>
              <a:t>Ganeshprasad Sridharan</a:t>
            </a:r>
            <a:endParaRPr lang="en-US" sz="1400" dirty="0"/>
          </a:p>
        </p:txBody>
      </p:sp>
      <p:pic>
        <p:nvPicPr>
          <p:cNvPr id="16" name="Dr. Nandini Seth" descr="Dr. Nandini Seth">    </p:cNvPr>
          <p:cNvPicPr>
            <a:picLocks noChangeAspect="1"/>
          </p:cNvPicPr>
          <p:nvPr/>
        </p:nvPicPr>
        <p:blipFill>
          <a:blip r:embed="rId7"/>
          <a:stretch>
            <a:fillRect/>
          </a:stretch>
        </p:blipFill>
        <p:spPr>
          <a:xfrm>
            <a:off x="5669280" y="4114800"/>
            <a:ext cx="2331720" cy="1645920"/>
          </a:xfrm>
          <a:prstGeom prst="rect">
            <a:avLst/>
          </a:prstGeom>
        </p:spPr>
      </p:pic>
      <p:sp>
        <p:nvSpPr>
          <p:cNvPr id="17" name="Dr. Nandini Seth"/>
          <p:cNvSpPr txBox="1"/>
          <p:nvPr/>
        </p:nvSpPr>
        <p:spPr>
          <a:xfrm>
            <a:off x="5669280" y="5824728"/>
            <a:ext cx="2331720" cy="320040"/>
          </a:xfrm>
          <a:prstGeom prst="rect">
            <a:avLst/>
          </a:prstGeom>
          <a:noFill/>
          <a:ln/>
        </p:spPr>
        <p:txBody>
          <a:bodyPr wrap="square" lIns="0" tIns="0" rIns="0" bIns="0" rtlCol="0" anchor="t"/>
          <a:lstStyle/>
          <a:p>
            <a:pPr algn="l" indent="0" marL="0">
              <a:lnSpc>
                <a:spcPct val="100000"/>
              </a:lnSpc>
              <a:buNone/>
            </a:pPr>
            <a:r>
              <a:rPr lang="en-US" sz="1400" b="1" dirty="0">
                <a:solidFill>
                  <a:schemeClr val="bg1"/>
                </a:solidFill>
              </a:rPr>
              <a:t>Dr. Nandini Seth</a:t>
            </a:r>
            <a:endParaRPr lang="en-US" sz="1400" dirty="0"/>
          </a:p>
        </p:txBody>
      </p:sp>
      <p:pic>
        <p:nvPicPr>
          <p:cNvPr id="18" name="Peyush Bansal" descr="Peyush Bansal">    </p:cNvPr>
          <p:cNvPicPr>
            <a:picLocks noChangeAspect="1"/>
          </p:cNvPicPr>
          <p:nvPr/>
        </p:nvPicPr>
        <p:blipFill>
          <a:blip r:embed="rId8"/>
          <a:stretch>
            <a:fillRect/>
          </a:stretch>
        </p:blipFill>
        <p:spPr>
          <a:xfrm>
            <a:off x="8229600" y="4114800"/>
            <a:ext cx="2331720" cy="1645920"/>
          </a:xfrm>
          <a:prstGeom prst="rect">
            <a:avLst/>
          </a:prstGeom>
        </p:spPr>
      </p:pic>
      <p:sp>
        <p:nvSpPr>
          <p:cNvPr id="19" name="Peyush Bansal"/>
          <p:cNvSpPr txBox="1"/>
          <p:nvPr/>
        </p:nvSpPr>
        <p:spPr>
          <a:xfrm>
            <a:off x="8229600" y="5824728"/>
            <a:ext cx="2331720" cy="320040"/>
          </a:xfrm>
          <a:prstGeom prst="rect">
            <a:avLst/>
          </a:prstGeom>
          <a:noFill/>
          <a:ln/>
        </p:spPr>
        <p:txBody>
          <a:bodyPr wrap="square" lIns="0" tIns="0" rIns="0" bIns="0" rtlCol="0" anchor="t"/>
          <a:lstStyle/>
          <a:p>
            <a:pPr algn="l" indent="0" marL="0">
              <a:lnSpc>
                <a:spcPct val="100000"/>
              </a:lnSpc>
              <a:buNone/>
            </a:pPr>
            <a:r>
              <a:rPr lang="en-US" sz="1400" b="1" dirty="0">
                <a:solidFill>
                  <a:schemeClr val="bg1"/>
                </a:solidFill>
              </a:rPr>
              <a:t>Peyush Bansal</a:t>
            </a:r>
            <a:endParaRPr lang="en-US" sz="1400" dirty="0"/>
          </a:p>
        </p:txBody>
      </p:sp>
      <p:pic>
        <p:nvPicPr>
          <p:cNvPr id="20" name="Star" descr="/Users/xadxtyax/Library/Application Support/Claude/scratch-workspaces/7159731d-a44a-4097-bf70-afdcfed87503/0bd4f3ce-9e23-4993-bb7f-0a40b4577418/scratch-2026-09-29-b4af05/deck/.build/assets/star-outline-yellow-800.png">    </p:cNvPr>
          <p:cNvPicPr>
            <a:picLocks noChangeAspect="1"/>
          </p:cNvPicPr>
          <p:nvPr/>
        </p:nvPicPr>
        <p:blipFill>
          <a:blip r:embed="rId9"/>
          <a:stretch>
            <a:fillRect/>
          </a:stretch>
        </p:blipFill>
        <p:spPr>
          <a:xfrm>
            <a:off x="10789920" y="2057400"/>
            <a:ext cx="868680" cy="954462"/>
          </a:xfrm>
          <a:prstGeom prst="rect">
            <a:avLst/>
          </a:prstGeom>
        </p:spPr>
      </p:pic>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bg1"/>
                </a:solidFill>
              </a:rPr>
              <a:t>Pulled Off Our Firsts</a:t>
            </a:r>
            <a:endParaRPr lang="en-US" sz="3600" dirty="0"/>
          </a:p>
        </p:txBody>
      </p:sp>
      <p:pic>
        <p:nvPicPr>
          <p:cNvPr id="3" name="The Lexi's Gourmet Sandwiches team in their kitchen" descr="The Lexi's Gourmet Sandwiches team in their kitchen">    </p:cNvPr>
          <p:cNvPicPr>
            <a:picLocks noChangeAspect="1"/>
          </p:cNvPicPr>
          <p:nvPr/>
        </p:nvPicPr>
        <p:blipFill>
          <a:blip r:embed="rId1"/>
          <a:stretch>
            <a:fillRect/>
          </a:stretch>
        </p:blipFill>
        <p:spPr>
          <a:xfrm>
            <a:off x="548640" y="1828800"/>
            <a:ext cx="3515258" cy="2423160"/>
          </a:xfrm>
          <a:prstGeom prst="rect">
            <a:avLst/>
          </a:prstGeom>
        </p:spPr>
      </p:pic>
      <p:sp>
        <p:nvSpPr>
          <p:cNvPr id="4" name="Lexi's Gourmet Sandwiches"/>
          <p:cNvSpPr txBox="1"/>
          <p:nvPr/>
        </p:nvSpPr>
        <p:spPr>
          <a:xfrm>
            <a:off x="548640" y="4325112"/>
            <a:ext cx="3515258" cy="274320"/>
          </a:xfrm>
          <a:prstGeom prst="rect">
            <a:avLst/>
          </a:prstGeom>
          <a:noFill/>
          <a:ln/>
        </p:spPr>
        <p:txBody>
          <a:bodyPr wrap="square" lIns="0" tIns="0" rIns="0" bIns="0" rtlCol="0" anchor="t"/>
          <a:lstStyle/>
          <a:p>
            <a:pPr algn="l" indent="0" marL="0">
              <a:lnSpc>
                <a:spcPct val="100000"/>
              </a:lnSpc>
              <a:buNone/>
            </a:pPr>
            <a:r>
              <a:rPr lang="en-US" sz="1100" dirty="0">
                <a:solidFill>
                  <a:schemeClr val="bg2"/>
                </a:solidFill>
              </a:rPr>
              <a:t>Lexi's Gourmet Sandwiches</a:t>
            </a:r>
            <a:endParaRPr lang="en-US" sz="1100" dirty="0"/>
          </a:p>
        </p:txBody>
      </p:sp>
      <p:sp>
        <p:nvSpPr>
          <p:cNvPr id="5" name="40+"/>
          <p:cNvSpPr txBox="1"/>
          <p:nvPr/>
        </p:nvSpPr>
        <p:spPr>
          <a:xfrm>
            <a:off x="548640" y="4617720"/>
            <a:ext cx="3515258" cy="777240"/>
          </a:xfrm>
          <a:prstGeom prst="rect">
            <a:avLst/>
          </a:prstGeom>
          <a:noFill/>
          <a:ln/>
        </p:spPr>
        <p:txBody>
          <a:bodyPr wrap="square" lIns="0" tIns="0" rIns="0" bIns="0" rtlCol="0" anchor="b"/>
          <a:lstStyle/>
          <a:p>
            <a:pPr algn="l" indent="0" marL="0">
              <a:lnSpc>
                <a:spcPct val="100000"/>
              </a:lnSpc>
              <a:buNone/>
            </a:pPr>
            <a:r>
              <a:rPr lang="en-US" sz="4600" b="1" dirty="0">
                <a:solidFill>
                  <a:schemeClr val="accent1"/>
                </a:solidFill>
              </a:rPr>
              <a:t>40+</a:t>
            </a:r>
            <a:endParaRPr lang="en-US" sz="4600" dirty="0"/>
          </a:p>
        </p:txBody>
      </p:sp>
      <p:sp>
        <p:nvSpPr>
          <p:cNvPr id="6" name="Student-built startups"/>
          <p:cNvSpPr txBox="1"/>
          <p:nvPr/>
        </p:nvSpPr>
        <p:spPr>
          <a:xfrm>
            <a:off x="548640" y="5440680"/>
            <a:ext cx="3515258" cy="640080"/>
          </a:xfrm>
          <a:prstGeom prst="rect">
            <a:avLst/>
          </a:prstGeom>
          <a:noFill/>
          <a:ln/>
        </p:spPr>
        <p:txBody>
          <a:bodyPr wrap="square" lIns="0" tIns="0" rIns="0" bIns="0" rtlCol="0" anchor="t"/>
          <a:lstStyle/>
          <a:p>
            <a:pPr algn="l" indent="0" marL="0">
              <a:lnSpc>
                <a:spcPct val="100000"/>
              </a:lnSpc>
              <a:buNone/>
            </a:pPr>
            <a:r>
              <a:rPr lang="en-US" sz="1600" b="1" dirty="0">
                <a:solidFill>
                  <a:schemeClr val="bg1"/>
                </a:solidFill>
              </a:rPr>
              <a:t>Student-built startups</a:t>
            </a:r>
            <a:endParaRPr lang="en-US" sz="1600" dirty="0"/>
          </a:p>
        </p:txBody>
      </p:sp>
      <p:pic>
        <p:nvPicPr>
          <p:cNvPr id="7" name="Visitors at a student stall at the Dropshipping Mela" descr="Visitors at a student stall at the Dropshipping Mela">    </p:cNvPr>
          <p:cNvPicPr>
            <a:picLocks noChangeAspect="1"/>
          </p:cNvPicPr>
          <p:nvPr/>
        </p:nvPicPr>
        <p:blipFill>
          <a:blip r:embed="rId2"/>
          <a:stretch>
            <a:fillRect/>
          </a:stretch>
        </p:blipFill>
        <p:spPr>
          <a:xfrm>
            <a:off x="4338218" y="1828800"/>
            <a:ext cx="3515258" cy="2423160"/>
          </a:xfrm>
          <a:prstGeom prst="rect">
            <a:avLst/>
          </a:prstGeom>
        </p:spPr>
      </p:pic>
      <p:sp>
        <p:nvSpPr>
          <p:cNvPr id="8" name="The Dropshipping Mela"/>
          <p:cNvSpPr txBox="1"/>
          <p:nvPr/>
        </p:nvSpPr>
        <p:spPr>
          <a:xfrm>
            <a:off x="4338218" y="4325112"/>
            <a:ext cx="3515258" cy="274320"/>
          </a:xfrm>
          <a:prstGeom prst="rect">
            <a:avLst/>
          </a:prstGeom>
          <a:noFill/>
          <a:ln/>
        </p:spPr>
        <p:txBody>
          <a:bodyPr wrap="square" lIns="0" tIns="0" rIns="0" bIns="0" rtlCol="0" anchor="t"/>
          <a:lstStyle/>
          <a:p>
            <a:pPr algn="l" indent="0" marL="0">
              <a:lnSpc>
                <a:spcPct val="100000"/>
              </a:lnSpc>
              <a:buNone/>
            </a:pPr>
            <a:r>
              <a:rPr lang="en-US" sz="1100" dirty="0">
                <a:solidFill>
                  <a:schemeClr val="bg2"/>
                </a:solidFill>
              </a:rPr>
              <a:t>The Dropshipping Mela</a:t>
            </a:r>
            <a:endParaRPr lang="en-US" sz="1100" dirty="0"/>
          </a:p>
        </p:txBody>
      </p:sp>
      <p:sp>
        <p:nvSpPr>
          <p:cNvPr id="9" name="₹1.2 crore+"/>
          <p:cNvSpPr txBox="1"/>
          <p:nvPr/>
        </p:nvSpPr>
        <p:spPr>
          <a:xfrm>
            <a:off x="4338218" y="4617720"/>
            <a:ext cx="3515258" cy="777240"/>
          </a:xfrm>
          <a:prstGeom prst="rect">
            <a:avLst/>
          </a:prstGeom>
          <a:noFill/>
          <a:ln/>
        </p:spPr>
        <p:txBody>
          <a:bodyPr wrap="square" lIns="0" tIns="0" rIns="0" bIns="0" rtlCol="0" anchor="b"/>
          <a:lstStyle/>
          <a:p>
            <a:pPr algn="l" indent="0" marL="0">
              <a:lnSpc>
                <a:spcPct val="100000"/>
              </a:lnSpc>
              <a:buNone/>
            </a:pPr>
            <a:r>
              <a:rPr lang="en-US" sz="4600" b="1" dirty="0">
                <a:solidFill>
                  <a:schemeClr val="accent1"/>
                </a:solidFill>
              </a:rPr>
              <a:t>₹1.2 crore+</a:t>
            </a:r>
            <a:endParaRPr lang="en-US" sz="4600" dirty="0"/>
          </a:p>
        </p:txBody>
      </p:sp>
      <p:sp>
        <p:nvSpPr>
          <p:cNvPr id="10" name="Cumulative revenue through Dropshipping "/>
          <p:cNvSpPr txBox="1"/>
          <p:nvPr/>
        </p:nvSpPr>
        <p:spPr>
          <a:xfrm>
            <a:off x="4338218" y="5440680"/>
            <a:ext cx="3515258" cy="640080"/>
          </a:xfrm>
          <a:prstGeom prst="rect">
            <a:avLst/>
          </a:prstGeom>
          <a:noFill/>
          <a:ln/>
        </p:spPr>
        <p:txBody>
          <a:bodyPr wrap="square" lIns="0" tIns="0" rIns="0" bIns="0" rtlCol="0" anchor="t"/>
          <a:lstStyle/>
          <a:p>
            <a:pPr algn="l" indent="0" marL="0">
              <a:lnSpc>
                <a:spcPct val="100000"/>
              </a:lnSpc>
              <a:buNone/>
            </a:pPr>
            <a:r>
              <a:rPr lang="en-US" sz="1600" b="1" dirty="0">
                <a:solidFill>
                  <a:schemeClr val="bg1"/>
                </a:solidFill>
              </a:rPr>
              <a:t>Cumulative revenue through Dropshipping Melas</a:t>
            </a:r>
            <a:endParaRPr lang="en-US" sz="1600" dirty="0"/>
          </a:p>
        </p:txBody>
      </p:sp>
      <p:pic>
        <p:nvPicPr>
          <p:cNvPr id="11" name="Students in conversation beneath a Nifty market ticker" descr="Students in conversation beneath a Nifty market ticker">    </p:cNvPr>
          <p:cNvPicPr>
            <a:picLocks noChangeAspect="1"/>
          </p:cNvPicPr>
          <p:nvPr/>
        </p:nvPicPr>
        <p:blipFill>
          <a:blip r:embed="rId3"/>
          <a:stretch>
            <a:fillRect/>
          </a:stretch>
        </p:blipFill>
        <p:spPr>
          <a:xfrm>
            <a:off x="8127797" y="1828800"/>
            <a:ext cx="3515258" cy="2423160"/>
          </a:xfrm>
          <a:prstGeom prst="rect">
            <a:avLst/>
          </a:prstGeom>
        </p:spPr>
      </p:pic>
      <p:sp>
        <p:nvSpPr>
          <p:cNvPr id="12" name="Masters' Union Investment Fund"/>
          <p:cNvSpPr txBox="1"/>
          <p:nvPr/>
        </p:nvSpPr>
        <p:spPr>
          <a:xfrm>
            <a:off x="8127797" y="4325112"/>
            <a:ext cx="3515258" cy="274320"/>
          </a:xfrm>
          <a:prstGeom prst="rect">
            <a:avLst/>
          </a:prstGeom>
          <a:noFill/>
          <a:ln/>
        </p:spPr>
        <p:txBody>
          <a:bodyPr wrap="square" lIns="0" tIns="0" rIns="0" bIns="0" rtlCol="0" anchor="t"/>
          <a:lstStyle/>
          <a:p>
            <a:pPr algn="l" indent="0" marL="0">
              <a:lnSpc>
                <a:spcPct val="100000"/>
              </a:lnSpc>
              <a:buNone/>
            </a:pPr>
            <a:r>
              <a:rPr lang="en-US" sz="1100" dirty="0">
                <a:solidFill>
                  <a:schemeClr val="bg2"/>
                </a:solidFill>
              </a:rPr>
              <a:t>Masters' Union Investment Fund</a:t>
            </a:r>
            <a:endParaRPr lang="en-US" sz="1100" dirty="0"/>
          </a:p>
        </p:txBody>
      </p:sp>
      <p:sp>
        <p:nvSpPr>
          <p:cNvPr id="13" name="₹5 crore"/>
          <p:cNvSpPr txBox="1"/>
          <p:nvPr/>
        </p:nvSpPr>
        <p:spPr>
          <a:xfrm>
            <a:off x="8127797" y="4617720"/>
            <a:ext cx="3515258" cy="777240"/>
          </a:xfrm>
          <a:prstGeom prst="rect">
            <a:avLst/>
          </a:prstGeom>
          <a:noFill/>
          <a:ln/>
        </p:spPr>
        <p:txBody>
          <a:bodyPr wrap="square" lIns="0" tIns="0" rIns="0" bIns="0" rtlCol="0" anchor="b"/>
          <a:lstStyle/>
          <a:p>
            <a:pPr algn="l" indent="0" marL="0">
              <a:lnSpc>
                <a:spcPct val="100000"/>
              </a:lnSpc>
              <a:buNone/>
            </a:pPr>
            <a:r>
              <a:rPr lang="en-US" sz="4600" b="1" dirty="0">
                <a:solidFill>
                  <a:schemeClr val="accent1"/>
                </a:solidFill>
              </a:rPr>
              <a:t>₹5 crore</a:t>
            </a:r>
            <a:endParaRPr lang="en-US" sz="4600" dirty="0"/>
          </a:p>
        </p:txBody>
      </p:sp>
      <p:sp>
        <p:nvSpPr>
          <p:cNvPr id="14" name="Live student-managed investment fund"/>
          <p:cNvSpPr txBox="1"/>
          <p:nvPr/>
        </p:nvSpPr>
        <p:spPr>
          <a:xfrm>
            <a:off x="8127797" y="5440680"/>
            <a:ext cx="3515258" cy="640080"/>
          </a:xfrm>
          <a:prstGeom prst="rect">
            <a:avLst/>
          </a:prstGeom>
          <a:noFill/>
          <a:ln/>
        </p:spPr>
        <p:txBody>
          <a:bodyPr wrap="square" lIns="0" tIns="0" rIns="0" bIns="0" rtlCol="0" anchor="t"/>
          <a:lstStyle/>
          <a:p>
            <a:pPr algn="l" indent="0" marL="0">
              <a:lnSpc>
                <a:spcPct val="100000"/>
              </a:lnSpc>
              <a:buNone/>
            </a:pPr>
            <a:r>
              <a:rPr lang="en-US" sz="1600" b="1" dirty="0">
                <a:solidFill>
                  <a:schemeClr val="bg1"/>
                </a:solidFill>
              </a:rPr>
              <a:t>Live student-managed investment fund</a:t>
            </a:r>
            <a:endParaRPr lang="en-US" sz="16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bg1"/>
                </a:solidFill>
              </a:rPr>
              <a:t>And Crafted the Biggest Moments</a:t>
            </a:r>
            <a:endParaRPr lang="en-US" sz="3600" dirty="0"/>
          </a:p>
        </p:txBody>
      </p:sp>
      <p:sp>
        <p:nvSpPr>
          <p:cNvPr id="3" name="MASTERS' UNION UNIVERSITY"/>
          <p:cNvSpPr txBox="1"/>
          <p:nvPr/>
        </p:nvSpPr>
        <p:spPr>
          <a:xfrm>
            <a:off x="548640" y="457200"/>
            <a:ext cx="8229600" cy="274320"/>
          </a:xfrm>
          <a:prstGeom prst="rect">
            <a:avLst/>
          </a:prstGeom>
          <a:noFill/>
          <a:ln/>
        </p:spPr>
        <p:txBody>
          <a:bodyPr wrap="square" lIns="0" tIns="0" rIns="0" bIns="0" rtlCol="0" anchor="t"/>
          <a:lstStyle/>
          <a:p>
            <a:pPr algn="l" indent="0" marL="0">
              <a:lnSpc>
                <a:spcPct val="100000"/>
              </a:lnSpc>
              <a:buNone/>
            </a:pPr>
            <a:r>
              <a:rPr lang="en-US" sz="1100" b="1" spc="250" kern="0" dirty="0">
                <a:solidFill>
                  <a:schemeClr val="accent1"/>
                </a:solidFill>
              </a:rPr>
              <a:t>MASTERS' UNION UNIVERSITY</a:t>
            </a:r>
            <a:endParaRPr lang="en-US" sz="1100" dirty="0"/>
          </a:p>
        </p:txBody>
      </p:sp>
      <p:pic>
        <p:nvPicPr>
          <p:cNvPr id="4" name="HYROX Delhi signage with the Masters' Union mark" descr="HYROX Delhi signage with the Masters' Union mark">    </p:cNvPr>
          <p:cNvPicPr>
            <a:picLocks noChangeAspect="1"/>
          </p:cNvPicPr>
          <p:nvPr/>
        </p:nvPicPr>
        <p:blipFill>
          <a:blip r:embed="rId1"/>
          <a:stretch>
            <a:fillRect/>
          </a:stretch>
        </p:blipFill>
        <p:spPr>
          <a:xfrm>
            <a:off x="548640" y="1874520"/>
            <a:ext cx="3515258" cy="2514600"/>
          </a:xfrm>
          <a:prstGeom prst="rect">
            <a:avLst/>
          </a:prstGeom>
        </p:spPr>
      </p:pic>
      <p:sp>
        <p:nvSpPr>
          <p:cNvPr id="5" name="HYROX Delhi &amp; Mumbai"/>
          <p:cNvSpPr txBox="1"/>
          <p:nvPr/>
        </p:nvSpPr>
        <p:spPr>
          <a:xfrm>
            <a:off x="548640" y="4572000"/>
            <a:ext cx="3515258" cy="411480"/>
          </a:xfrm>
          <a:prstGeom prst="rect">
            <a:avLst/>
          </a:prstGeom>
          <a:noFill/>
          <a:ln/>
        </p:spPr>
        <p:txBody>
          <a:bodyPr wrap="square" lIns="0" tIns="0" rIns="0" bIns="0" rtlCol="0" anchor="t"/>
          <a:lstStyle/>
          <a:p>
            <a:pPr algn="l" indent="0" marL="0">
              <a:lnSpc>
                <a:spcPct val="100000"/>
              </a:lnSpc>
              <a:buNone/>
            </a:pPr>
            <a:r>
              <a:rPr lang="en-US" sz="2000" b="1" dirty="0">
                <a:solidFill>
                  <a:schemeClr val="accent1"/>
                </a:solidFill>
              </a:rPr>
              <a:t>HYROX Delhi &amp; Mumbai</a:t>
            </a:r>
            <a:endParaRPr lang="en-US" sz="2000" dirty="0"/>
          </a:p>
        </p:txBody>
      </p:sp>
      <p:sp>
        <p:nvSpPr>
          <p:cNvPr id="6" name="Masters' Union University as Title Spons"/>
          <p:cNvSpPr txBox="1"/>
          <p:nvPr/>
        </p:nvSpPr>
        <p:spPr>
          <a:xfrm>
            <a:off x="548640" y="5029200"/>
            <a:ext cx="3515258" cy="1005840"/>
          </a:xfrm>
          <a:prstGeom prst="rect">
            <a:avLst/>
          </a:prstGeom>
          <a:noFill/>
          <a:ln/>
        </p:spPr>
        <p:txBody>
          <a:bodyPr wrap="square" lIns="0" tIns="0" rIns="0" bIns="0" rtlCol="0" anchor="t"/>
          <a:lstStyle/>
          <a:p>
            <a:pPr algn="l" indent="0" marL="0">
              <a:lnSpc>
                <a:spcPct val="100000"/>
              </a:lnSpc>
              <a:buNone/>
            </a:pPr>
            <a:r>
              <a:rPr lang="en-US" sz="1500" dirty="0">
                <a:solidFill>
                  <a:schemeClr val="bg1"/>
                </a:solidFill>
              </a:rPr>
              <a:t>Masters' Union University as Title Sponsor. 25K+ athletes across both cities.</a:t>
            </a:r>
            <a:endParaRPr lang="en-US" sz="1500" dirty="0"/>
          </a:p>
        </p:txBody>
      </p:sp>
      <p:pic>
        <p:nvPicPr>
          <p:cNvPr id="7" name="Founders pitching to a full auditorium at Demo Day" descr="Founders pitching to a full auditorium at Demo Day">    </p:cNvPr>
          <p:cNvPicPr>
            <a:picLocks noChangeAspect="1"/>
          </p:cNvPicPr>
          <p:nvPr/>
        </p:nvPicPr>
        <p:blipFill>
          <a:blip r:embed="rId2"/>
          <a:stretch>
            <a:fillRect/>
          </a:stretch>
        </p:blipFill>
        <p:spPr>
          <a:xfrm>
            <a:off x="4338218" y="1874520"/>
            <a:ext cx="3515258" cy="2514600"/>
          </a:xfrm>
          <a:prstGeom prst="rect">
            <a:avLst/>
          </a:prstGeom>
        </p:spPr>
      </p:pic>
      <p:sp>
        <p:nvSpPr>
          <p:cNvPr id="8" name="Demo Day"/>
          <p:cNvSpPr txBox="1"/>
          <p:nvPr/>
        </p:nvSpPr>
        <p:spPr>
          <a:xfrm>
            <a:off x="4338218" y="4572000"/>
            <a:ext cx="3515258" cy="411480"/>
          </a:xfrm>
          <a:prstGeom prst="rect">
            <a:avLst/>
          </a:prstGeom>
          <a:noFill/>
          <a:ln/>
        </p:spPr>
        <p:txBody>
          <a:bodyPr wrap="square" lIns="0" tIns="0" rIns="0" bIns="0" rtlCol="0" anchor="t"/>
          <a:lstStyle/>
          <a:p>
            <a:pPr algn="l" indent="0" marL="0">
              <a:lnSpc>
                <a:spcPct val="100000"/>
              </a:lnSpc>
              <a:buNone/>
            </a:pPr>
            <a:r>
              <a:rPr lang="en-US" sz="2000" b="1" dirty="0">
                <a:solidFill>
                  <a:schemeClr val="accent1"/>
                </a:solidFill>
              </a:rPr>
              <a:t>Demo Day</a:t>
            </a:r>
            <a:endParaRPr lang="en-US" sz="2000" dirty="0"/>
          </a:p>
        </p:txBody>
      </p:sp>
      <p:sp>
        <p:nvSpPr>
          <p:cNvPr id="9" name="₹60.5 crore in investment committed to s"/>
          <p:cNvSpPr txBox="1"/>
          <p:nvPr/>
        </p:nvSpPr>
        <p:spPr>
          <a:xfrm>
            <a:off x="4338218" y="5029200"/>
            <a:ext cx="3515258" cy="1005840"/>
          </a:xfrm>
          <a:prstGeom prst="rect">
            <a:avLst/>
          </a:prstGeom>
          <a:noFill/>
          <a:ln/>
        </p:spPr>
        <p:txBody>
          <a:bodyPr wrap="square" lIns="0" tIns="0" rIns="0" bIns="0" rtlCol="0" anchor="t"/>
          <a:lstStyle/>
          <a:p>
            <a:pPr algn="l" indent="0" marL="0">
              <a:lnSpc>
                <a:spcPct val="100000"/>
              </a:lnSpc>
              <a:buNone/>
            </a:pPr>
            <a:r>
              <a:rPr lang="en-US" sz="1500" dirty="0">
                <a:solidFill>
                  <a:schemeClr val="bg1"/>
                </a:solidFill>
              </a:rPr>
              <a:t>₹60.5 crore in investment committed to student ventures in a single hour.</a:t>
            </a:r>
            <a:endParaRPr lang="en-US" sz="1500" dirty="0"/>
          </a:p>
        </p:txBody>
      </p:sp>
      <p:pic>
        <p:nvPicPr>
          <p:cNvPr id="10" name="A robot demonstration at the AI Summit" descr="A robot demonstration at the AI Summit">    </p:cNvPr>
          <p:cNvPicPr>
            <a:picLocks noChangeAspect="1"/>
          </p:cNvPicPr>
          <p:nvPr/>
        </p:nvPicPr>
        <p:blipFill>
          <a:blip r:embed="rId3"/>
          <a:stretch>
            <a:fillRect/>
          </a:stretch>
        </p:blipFill>
        <p:spPr>
          <a:xfrm>
            <a:off x="8127797" y="1874520"/>
            <a:ext cx="3515258" cy="2514600"/>
          </a:xfrm>
          <a:prstGeom prst="rect">
            <a:avLst/>
          </a:prstGeom>
        </p:spPr>
      </p:pic>
      <p:sp>
        <p:nvSpPr>
          <p:cNvPr id="11" name="AI Summit"/>
          <p:cNvSpPr txBox="1"/>
          <p:nvPr/>
        </p:nvSpPr>
        <p:spPr>
          <a:xfrm>
            <a:off x="8127797" y="4572000"/>
            <a:ext cx="3515258" cy="411480"/>
          </a:xfrm>
          <a:prstGeom prst="rect">
            <a:avLst/>
          </a:prstGeom>
          <a:noFill/>
          <a:ln/>
        </p:spPr>
        <p:txBody>
          <a:bodyPr wrap="square" lIns="0" tIns="0" rIns="0" bIns="0" rtlCol="0" anchor="t"/>
          <a:lstStyle/>
          <a:p>
            <a:pPr algn="l" indent="0" marL="0">
              <a:lnSpc>
                <a:spcPct val="100000"/>
              </a:lnSpc>
              <a:buNone/>
            </a:pPr>
            <a:r>
              <a:rPr lang="en-US" sz="2000" b="1" dirty="0">
                <a:solidFill>
                  <a:schemeClr val="accent1"/>
                </a:solidFill>
              </a:rPr>
              <a:t>AI Summit</a:t>
            </a:r>
            <a:endParaRPr lang="en-US" sz="2000" dirty="0"/>
          </a:p>
        </p:txBody>
      </p:sp>
      <p:sp>
        <p:nvSpPr>
          <p:cNvPr id="12" name="Bringing together Nas Daily, NVIDIA, Goo"/>
          <p:cNvSpPr txBox="1"/>
          <p:nvPr/>
        </p:nvSpPr>
        <p:spPr>
          <a:xfrm>
            <a:off x="8127797" y="5029200"/>
            <a:ext cx="3515258" cy="1005840"/>
          </a:xfrm>
          <a:prstGeom prst="rect">
            <a:avLst/>
          </a:prstGeom>
          <a:noFill/>
          <a:ln/>
        </p:spPr>
        <p:txBody>
          <a:bodyPr wrap="square" lIns="0" tIns="0" rIns="0" bIns="0" rtlCol="0" anchor="t"/>
          <a:lstStyle/>
          <a:p>
            <a:pPr algn="l" indent="0" marL="0">
              <a:lnSpc>
                <a:spcPct val="100000"/>
              </a:lnSpc>
              <a:buNone/>
            </a:pPr>
            <a:r>
              <a:rPr lang="en-US" sz="1500" dirty="0">
                <a:solidFill>
                  <a:schemeClr val="bg1"/>
                </a:solidFill>
              </a:rPr>
              <a:t>Bringing together Nas Daily, NVIDIA, Google Cloud and IndiaAI Mission.</a:t>
            </a:r>
            <a:endParaRPr lang="en-US" sz="15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tx1"/>
                </a:solidFill>
              </a:rPr>
              <a:t>Enter Our Digital Multiverse</a:t>
            </a:r>
            <a:endParaRPr lang="en-US" sz="3600" dirty="0"/>
          </a:p>
        </p:txBody>
      </p:sp>
      <p:pic>
        <p:nvPicPr>
          <p:cNvPr id="3" name="Instagram" descr="Instagram">    </p:cNvPr>
          <p:cNvPicPr>
            <a:picLocks noChangeAspect="1"/>
          </p:cNvPicPr>
          <p:nvPr/>
        </p:nvPicPr>
        <p:blipFill>
          <a:blip r:embed="rId1"/>
          <a:stretch>
            <a:fillRect/>
          </a:stretch>
        </p:blipFill>
        <p:spPr>
          <a:xfrm>
            <a:off x="548640" y="1984248"/>
            <a:ext cx="457200" cy="457200"/>
          </a:xfrm>
          <a:prstGeom prst="rect">
            <a:avLst/>
          </a:prstGeom>
        </p:spPr>
      </p:pic>
      <p:sp>
        <p:nvSpPr>
          <p:cNvPr id="4" name="200M+"/>
          <p:cNvSpPr txBox="1"/>
          <p:nvPr/>
        </p:nvSpPr>
        <p:spPr>
          <a:xfrm>
            <a:off x="1691640" y="1828800"/>
            <a:ext cx="2377440" cy="731520"/>
          </a:xfrm>
          <a:prstGeom prst="rect">
            <a:avLst/>
          </a:prstGeom>
          <a:noFill/>
          <a:ln/>
        </p:spPr>
        <p:txBody>
          <a:bodyPr wrap="square" lIns="0" tIns="0" rIns="0" bIns="0" rtlCol="0" anchor="t"/>
          <a:lstStyle/>
          <a:p>
            <a:pPr algn="l" indent="0" marL="0">
              <a:lnSpc>
                <a:spcPct val="90000"/>
              </a:lnSpc>
              <a:buNone/>
            </a:pPr>
            <a:r>
              <a:rPr lang="en-US" sz="4000" b="1" dirty="0">
                <a:solidFill>
                  <a:schemeClr val="tx1"/>
                </a:solidFill>
              </a:rPr>
              <a:t>200M+</a:t>
            </a:r>
            <a:endParaRPr lang="en-US" sz="4000" dirty="0"/>
          </a:p>
        </p:txBody>
      </p:sp>
      <p:sp>
        <p:nvSpPr>
          <p:cNvPr id="5" name="Text"/>
          <p:cNvSpPr txBox="1"/>
          <p:nvPr/>
        </p:nvSpPr>
        <p:spPr>
          <a:xfrm>
            <a:off x="1691640" y="2560320"/>
            <a:ext cx="2377440" cy="457200"/>
          </a:xfrm>
          <a:prstGeom prst="rect">
            <a:avLst/>
          </a:prstGeom>
          <a:noFill/>
          <a:ln/>
        </p:spPr>
        <p:txBody>
          <a:bodyPr wrap="square" lIns="0" tIns="0" rIns="0" bIns="0" rtlCol="0" anchor="t"/>
          <a:lstStyle/>
          <a:p>
            <a:pPr algn="l" indent="0" marL="0">
              <a:lnSpc>
                <a:spcPct val="100000"/>
              </a:lnSpc>
              <a:buNone/>
            </a:pPr>
            <a:r>
              <a:rPr lang="en-US" sz="1300" b="1" dirty="0">
                <a:solidFill>
                  <a:schemeClr val="tx1"/>
                </a:solidFill>
              </a:rPr>
              <a:t>views</a:t>
            </a:r>
            <a:pPr algn="l" indent="0" marL="0">
              <a:lnSpc>
                <a:spcPct val="100000"/>
              </a:lnSpc>
              <a:buNone/>
            </a:pPr>
            <a:r>
              <a:rPr lang="en-US" sz="1300" dirty="0">
                <a:solidFill>
                  <a:schemeClr val="tx1"/>
                </a:solidFill>
              </a:rPr>
              <a:t>  @masters.union</a:t>
            </a:r>
            <a:endParaRPr lang="en-US" sz="1300" dirty="0"/>
          </a:p>
        </p:txBody>
      </p:sp>
      <p:pic>
        <p:nvPicPr>
          <p:cNvPr id="6" name="YouTube" descr="YouTube">    </p:cNvPr>
          <p:cNvPicPr>
            <a:picLocks noChangeAspect="1"/>
          </p:cNvPicPr>
          <p:nvPr/>
        </p:nvPicPr>
        <p:blipFill>
          <a:blip r:embed="rId2"/>
          <a:stretch>
            <a:fillRect/>
          </a:stretch>
        </p:blipFill>
        <p:spPr>
          <a:xfrm>
            <a:off x="548640" y="3401568"/>
            <a:ext cx="1005840" cy="422453"/>
          </a:xfrm>
          <a:prstGeom prst="rect">
            <a:avLst/>
          </a:prstGeom>
        </p:spPr>
      </p:pic>
      <p:sp>
        <p:nvSpPr>
          <p:cNvPr id="7" name="112M"/>
          <p:cNvSpPr txBox="1"/>
          <p:nvPr/>
        </p:nvSpPr>
        <p:spPr>
          <a:xfrm>
            <a:off x="1691640" y="3246120"/>
            <a:ext cx="2377440" cy="731520"/>
          </a:xfrm>
          <a:prstGeom prst="rect">
            <a:avLst/>
          </a:prstGeom>
          <a:noFill/>
          <a:ln/>
        </p:spPr>
        <p:txBody>
          <a:bodyPr wrap="square" lIns="0" tIns="0" rIns="0" bIns="0" rtlCol="0" anchor="t"/>
          <a:lstStyle/>
          <a:p>
            <a:pPr algn="l" indent="0" marL="0">
              <a:lnSpc>
                <a:spcPct val="90000"/>
              </a:lnSpc>
              <a:buNone/>
            </a:pPr>
            <a:r>
              <a:rPr lang="en-US" sz="4000" b="1" dirty="0">
                <a:solidFill>
                  <a:schemeClr val="tx1"/>
                </a:solidFill>
              </a:rPr>
              <a:t>112M</a:t>
            </a:r>
            <a:endParaRPr lang="en-US" sz="4000" dirty="0"/>
          </a:p>
        </p:txBody>
      </p:sp>
      <p:sp>
        <p:nvSpPr>
          <p:cNvPr id="8" name="Text"/>
          <p:cNvSpPr txBox="1"/>
          <p:nvPr/>
        </p:nvSpPr>
        <p:spPr>
          <a:xfrm>
            <a:off x="1691640" y="3977640"/>
            <a:ext cx="2377440" cy="457200"/>
          </a:xfrm>
          <a:prstGeom prst="rect">
            <a:avLst/>
          </a:prstGeom>
          <a:noFill/>
          <a:ln/>
        </p:spPr>
        <p:txBody>
          <a:bodyPr wrap="square" lIns="0" tIns="0" rIns="0" bIns="0" rtlCol="0" anchor="t"/>
          <a:lstStyle/>
          <a:p>
            <a:pPr algn="l" indent="0" marL="0">
              <a:lnSpc>
                <a:spcPct val="100000"/>
              </a:lnSpc>
              <a:buNone/>
            </a:pPr>
            <a:r>
              <a:rPr lang="en-US" sz="1300" b="1" dirty="0">
                <a:solidFill>
                  <a:schemeClr val="tx1"/>
                </a:solidFill>
              </a:rPr>
              <a:t>lifetime views</a:t>
            </a:r>
            <a:endParaRPr lang="en-US" sz="1300" dirty="0"/>
          </a:p>
        </p:txBody>
      </p:sp>
      <p:pic>
        <p:nvPicPr>
          <p:cNvPr id="9" name="LinkedIn" descr="LinkedIn">    </p:cNvPr>
          <p:cNvPicPr>
            <a:picLocks noChangeAspect="1"/>
          </p:cNvPicPr>
          <p:nvPr/>
        </p:nvPicPr>
        <p:blipFill>
          <a:blip r:embed="rId3"/>
          <a:stretch>
            <a:fillRect/>
          </a:stretch>
        </p:blipFill>
        <p:spPr>
          <a:xfrm>
            <a:off x="548640" y="4818888"/>
            <a:ext cx="459497" cy="457200"/>
          </a:xfrm>
          <a:prstGeom prst="rect">
            <a:avLst/>
          </a:prstGeom>
        </p:spPr>
      </p:pic>
      <p:sp>
        <p:nvSpPr>
          <p:cNvPr id="10" name="139K"/>
          <p:cNvSpPr txBox="1"/>
          <p:nvPr/>
        </p:nvSpPr>
        <p:spPr>
          <a:xfrm>
            <a:off x="1691640" y="4663440"/>
            <a:ext cx="2377440" cy="731520"/>
          </a:xfrm>
          <a:prstGeom prst="rect">
            <a:avLst/>
          </a:prstGeom>
          <a:noFill/>
          <a:ln/>
        </p:spPr>
        <p:txBody>
          <a:bodyPr wrap="square" lIns="0" tIns="0" rIns="0" bIns="0" rtlCol="0" anchor="t"/>
          <a:lstStyle/>
          <a:p>
            <a:pPr algn="l" indent="0" marL="0">
              <a:lnSpc>
                <a:spcPct val="90000"/>
              </a:lnSpc>
              <a:buNone/>
            </a:pPr>
            <a:r>
              <a:rPr lang="en-US" sz="4000" b="1" dirty="0">
                <a:solidFill>
                  <a:schemeClr val="tx1"/>
                </a:solidFill>
              </a:rPr>
              <a:t>139K</a:t>
            </a:r>
            <a:endParaRPr lang="en-US" sz="4000" dirty="0"/>
          </a:p>
        </p:txBody>
      </p:sp>
      <p:sp>
        <p:nvSpPr>
          <p:cNvPr id="11" name="Text"/>
          <p:cNvSpPr txBox="1"/>
          <p:nvPr/>
        </p:nvSpPr>
        <p:spPr>
          <a:xfrm>
            <a:off x="1691640" y="5394960"/>
            <a:ext cx="2377440" cy="457200"/>
          </a:xfrm>
          <a:prstGeom prst="rect">
            <a:avLst/>
          </a:prstGeom>
          <a:noFill/>
          <a:ln/>
        </p:spPr>
        <p:txBody>
          <a:bodyPr wrap="square" lIns="0" tIns="0" rIns="0" bIns="0" rtlCol="0" anchor="t"/>
          <a:lstStyle/>
          <a:p>
            <a:pPr algn="l" indent="0" marL="0">
              <a:lnSpc>
                <a:spcPct val="100000"/>
              </a:lnSpc>
              <a:buNone/>
            </a:pPr>
            <a:r>
              <a:rPr lang="en-US" sz="1300" b="1" dirty="0">
                <a:solidFill>
                  <a:schemeClr val="tx1"/>
                </a:solidFill>
              </a:rPr>
              <a:t>followers</a:t>
            </a:r>
            <a:endParaRPr lang="en-US" sz="1300" dirty="0"/>
          </a:p>
        </p:txBody>
      </p:sp>
      <p:sp>
        <p:nvSpPr>
          <p:cNvPr id="12" name="Frame"/>
          <p:cNvSpPr/>
          <p:nvPr/>
        </p:nvSpPr>
        <p:spPr>
          <a:xfrm>
            <a:off x="4114800" y="1737360"/>
            <a:ext cx="2451506" cy="4287114"/>
          </a:xfrm>
          <a:prstGeom prst="rect">
            <a:avLst/>
          </a:prstGeom>
          <a:solidFill>
            <a:schemeClr val="tx1"/>
          </a:solidFill>
          <a:ln/>
        </p:spPr>
      </p:sp>
      <p:pic>
        <p:nvPicPr>
          <p:cNvPr id="13" name="Dr Niranjan Hiranandani on building a business through data centres" descr="Dr Niranjan Hiranandani on building a business through data centres">
            <a:hlinkClick r:id="rId5" tooltip="Dr Niranjan Hiranandani on building a business through data centres"/>
          </p:cNvPr>
          <p:cNvPicPr>
            <a:picLocks noChangeAspect="1"/>
          </p:cNvPicPr>
          <p:nvPr/>
        </p:nvPicPr>
        <p:blipFill>
          <a:blip r:embed="rId4"/>
          <a:stretch>
            <a:fillRect/>
          </a:stretch>
        </p:blipFill>
        <p:spPr>
          <a:xfrm>
            <a:off x="4160520" y="1783080"/>
            <a:ext cx="2360066" cy="4195674"/>
          </a:xfrm>
          <a:prstGeom prst="rect">
            <a:avLst/>
          </a:prstGeom>
        </p:spPr>
      </p:pic>
      <p:sp>
        <p:nvSpPr>
          <p:cNvPr id="14" name="Frame"/>
          <p:cNvSpPr/>
          <p:nvPr/>
        </p:nvSpPr>
        <p:spPr>
          <a:xfrm>
            <a:off x="6676034" y="1737360"/>
            <a:ext cx="2451506" cy="4287114"/>
          </a:xfrm>
          <a:prstGeom prst="rect">
            <a:avLst/>
          </a:prstGeom>
          <a:solidFill>
            <a:schemeClr val="tx1"/>
          </a:solidFill>
          <a:ln/>
        </p:spPr>
      </p:sp>
      <p:pic>
        <p:nvPicPr>
          <p:cNvPr id="15" name="Choose right people over right skills" descr="Choose right people over right skills">
            <a:hlinkClick r:id="rId7" tooltip="Choose right people over right skills"/>
          </p:cNvPr>
          <p:cNvPicPr>
            <a:picLocks noChangeAspect="1"/>
          </p:cNvPicPr>
          <p:nvPr/>
        </p:nvPicPr>
        <p:blipFill>
          <a:blip r:embed="rId6"/>
          <a:stretch>
            <a:fillRect/>
          </a:stretch>
        </p:blipFill>
        <p:spPr>
          <a:xfrm>
            <a:off x="6721754" y="1783080"/>
            <a:ext cx="2360066" cy="4195674"/>
          </a:xfrm>
          <a:prstGeom prst="rect">
            <a:avLst/>
          </a:prstGeom>
        </p:spPr>
      </p:pic>
      <p:sp>
        <p:nvSpPr>
          <p:cNvPr id="16" name="Frame"/>
          <p:cNvSpPr/>
          <p:nvPr/>
        </p:nvSpPr>
        <p:spPr>
          <a:xfrm>
            <a:off x="9237269" y="1737360"/>
            <a:ext cx="2451506" cy="4287114"/>
          </a:xfrm>
          <a:prstGeom prst="rect">
            <a:avLst/>
          </a:prstGeom>
          <a:solidFill>
            <a:schemeClr val="tx1"/>
          </a:solidFill>
          <a:ln/>
        </p:spPr>
      </p:sp>
      <p:pic>
        <p:nvPicPr>
          <p:cNvPr id="17" name="Palm payment in India" descr="Palm payment in India">
            <a:hlinkClick r:id="rId9" tooltip="Palm payment in India"/>
          </p:cNvPr>
          <p:cNvPicPr>
            <a:picLocks noChangeAspect="1"/>
          </p:cNvPicPr>
          <p:nvPr/>
        </p:nvPicPr>
        <p:blipFill>
          <a:blip r:embed="rId8"/>
          <a:stretch>
            <a:fillRect/>
          </a:stretch>
        </p:blipFill>
        <p:spPr>
          <a:xfrm>
            <a:off x="9282989" y="1783080"/>
            <a:ext cx="2360066" cy="4195674"/>
          </a:xfrm>
          <a:prstGeom prst="rect">
            <a:avLst/>
          </a:prstGeom>
        </p:spPr>
      </p:pic>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1"/>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bg1"/>
                </a:solidFill>
              </a:rPr>
              <a:t>Join Our Remarkable Company</a:t>
            </a:r>
            <a:endParaRPr lang="en-US" sz="3600" dirty="0"/>
          </a:p>
        </p:txBody>
      </p:sp>
      <p:sp>
        <p:nvSpPr>
          <p:cNvPr id="3" name="Text"/>
          <p:cNvSpPr txBox="1"/>
          <p:nvPr/>
        </p:nvSpPr>
        <p:spPr>
          <a:xfrm>
            <a:off x="548640" y="1600200"/>
            <a:ext cx="4206240" cy="914400"/>
          </a:xfrm>
          <a:prstGeom prst="rect">
            <a:avLst/>
          </a:prstGeom>
          <a:noFill/>
          <a:ln/>
        </p:spPr>
        <p:txBody>
          <a:bodyPr wrap="square" lIns="0" tIns="0" rIns="0" bIns="0" rtlCol="0" anchor="t"/>
          <a:lstStyle/>
          <a:p>
            <a:pPr algn="l" indent="0" marL="0">
              <a:lnSpc>
                <a:spcPct val="100000"/>
              </a:lnSpc>
              <a:buNone/>
            </a:pPr>
            <a:r>
              <a:rPr lang="en-US" sz="1800" b="1" dirty="0">
                <a:solidFill>
                  <a:schemeClr val="bg1"/>
                </a:solidFill>
              </a:rPr>
              <a:t>Brands we’ve worked with.</a:t>
            </a:r>
            <a:endParaRPr lang="en-US" sz="1800" dirty="0"/>
          </a:p>
          <a:p>
            <a:pPr algn="l" indent="0" marL="0">
              <a:lnSpc>
                <a:spcPct val="100000"/>
              </a:lnSpc>
              <a:buNone/>
            </a:pPr>
            <a:r>
              <a:rPr lang="en-US" sz="1800" b="1" dirty="0">
                <a:solidFill>
                  <a:schemeClr val="bg1"/>
                </a:solidFill>
              </a:rPr>
              <a:t>Relationships we’re proud to build on.</a:t>
            </a:r>
            <a:endParaRPr lang="en-US" sz="1800" dirty="0"/>
          </a:p>
        </p:txBody>
      </p:sp>
      <p:sp>
        <p:nvSpPr>
          <p:cNvPr id="4" name="Across Masters’ Union University’s event"/>
          <p:cNvSpPr txBox="1"/>
          <p:nvPr/>
        </p:nvSpPr>
        <p:spPr>
          <a:xfrm>
            <a:off x="548640" y="2606040"/>
            <a:ext cx="3931920" cy="914400"/>
          </a:xfrm>
          <a:prstGeom prst="rect">
            <a:avLst/>
          </a:prstGeom>
          <a:noFill/>
          <a:ln/>
        </p:spPr>
        <p:txBody>
          <a:bodyPr wrap="square" lIns="0" tIns="0" rIns="0" bIns="0" rtlCol="0" anchor="t"/>
          <a:lstStyle/>
          <a:p>
            <a:pPr algn="l" indent="0" marL="0">
              <a:lnSpc>
                <a:spcPct val="100000"/>
              </a:lnSpc>
              <a:buNone/>
            </a:pPr>
            <a:r>
              <a:rPr lang="en-US" sz="1400" dirty="0">
                <a:solidFill>
                  <a:schemeClr val="bg2"/>
                </a:solidFill>
              </a:rPr>
              <a:t>Across Masters’ Union University’s events, programmes and partnerships.</a:t>
            </a:r>
            <a:endParaRPr lang="en-US" sz="1400" dirty="0"/>
          </a:p>
        </p:txBody>
      </p:sp>
      <p:pic>
        <p:nvPicPr>
          <p:cNvPr id="5" name="Masters' Union University" descr="Masters' Union University">    </p:cNvPr>
          <p:cNvPicPr>
            <a:picLocks noChangeAspect="1"/>
          </p:cNvPicPr>
          <p:nvPr/>
        </p:nvPicPr>
        <p:blipFill>
          <a:blip r:embed="rId1"/>
          <a:stretch>
            <a:fillRect/>
          </a:stretch>
        </p:blipFill>
        <p:spPr>
          <a:xfrm>
            <a:off x="548640" y="5394960"/>
            <a:ext cx="2926080" cy="612038"/>
          </a:xfrm>
          <a:prstGeom prst="rect">
            <a:avLst/>
          </a:prstGeom>
        </p:spPr>
      </p:pic>
      <p:pic>
        <p:nvPicPr>
          <p:cNvPr id="6" name="PwC" descr="PwC">    </p:cNvPr>
          <p:cNvPicPr>
            <a:picLocks noChangeAspect="1"/>
          </p:cNvPicPr>
          <p:nvPr/>
        </p:nvPicPr>
        <p:blipFill>
          <a:blip r:embed="rId2"/>
          <a:stretch>
            <a:fillRect/>
          </a:stretch>
        </p:blipFill>
        <p:spPr>
          <a:xfrm>
            <a:off x="5155193" y="2020824"/>
            <a:ext cx="823896" cy="402336"/>
          </a:xfrm>
          <a:prstGeom prst="rect">
            <a:avLst/>
          </a:prstGeom>
        </p:spPr>
      </p:pic>
      <p:pic>
        <p:nvPicPr>
          <p:cNvPr id="7" name="HYROX" descr="HYROX">    </p:cNvPr>
          <p:cNvPicPr>
            <a:picLocks noChangeAspect="1"/>
          </p:cNvPicPr>
          <p:nvPr/>
        </p:nvPicPr>
        <p:blipFill>
          <a:blip r:embed="rId3"/>
          <a:stretch>
            <a:fillRect/>
          </a:stretch>
        </p:blipFill>
        <p:spPr>
          <a:xfrm>
            <a:off x="6431271" y="2153942"/>
            <a:ext cx="972146" cy="136100"/>
          </a:xfrm>
          <a:prstGeom prst="rect">
            <a:avLst/>
          </a:prstGeom>
        </p:spPr>
      </p:pic>
      <p:pic>
        <p:nvPicPr>
          <p:cNvPr id="8" name="Bloomberg" descr="Bloomberg">    </p:cNvPr>
          <p:cNvPicPr>
            <a:picLocks noChangeAspect="1"/>
          </p:cNvPicPr>
          <p:nvPr/>
        </p:nvPicPr>
        <p:blipFill>
          <a:blip r:embed="rId4"/>
          <a:stretch>
            <a:fillRect/>
          </a:stretch>
        </p:blipFill>
        <p:spPr>
          <a:xfrm>
            <a:off x="7781475" y="2124777"/>
            <a:ext cx="972146" cy="194429"/>
          </a:xfrm>
          <a:prstGeom prst="rect">
            <a:avLst/>
          </a:prstGeom>
        </p:spPr>
      </p:pic>
      <p:pic>
        <p:nvPicPr>
          <p:cNvPr id="9" name="PokerBaazi" descr="PokerBaazi">    </p:cNvPr>
          <p:cNvPicPr>
            <a:picLocks noChangeAspect="1"/>
          </p:cNvPicPr>
          <p:nvPr/>
        </p:nvPicPr>
        <p:blipFill>
          <a:blip r:embed="rId5"/>
          <a:stretch>
            <a:fillRect/>
          </a:stretch>
        </p:blipFill>
        <p:spPr>
          <a:xfrm>
            <a:off x="9131678" y="2086702"/>
            <a:ext cx="972146" cy="270581"/>
          </a:xfrm>
          <a:prstGeom prst="rect">
            <a:avLst/>
          </a:prstGeom>
        </p:spPr>
      </p:pic>
      <p:pic>
        <p:nvPicPr>
          <p:cNvPr id="10" name="boAt" descr="boAt">    </p:cNvPr>
          <p:cNvPicPr>
            <a:picLocks noChangeAspect="1"/>
          </p:cNvPicPr>
          <p:nvPr/>
        </p:nvPicPr>
        <p:blipFill>
          <a:blip r:embed="rId6"/>
          <a:stretch>
            <a:fillRect/>
          </a:stretch>
        </p:blipFill>
        <p:spPr>
          <a:xfrm>
            <a:off x="10481881" y="2022702"/>
            <a:ext cx="972146" cy="398580"/>
          </a:xfrm>
          <a:prstGeom prst="rect">
            <a:avLst/>
          </a:prstGeom>
        </p:spPr>
      </p:pic>
      <p:pic>
        <p:nvPicPr>
          <p:cNvPr id="11" name="NIVIA" descr="NIVIA">    </p:cNvPr>
          <p:cNvPicPr>
            <a:picLocks noChangeAspect="1"/>
          </p:cNvPicPr>
          <p:nvPr/>
        </p:nvPicPr>
        <p:blipFill>
          <a:blip r:embed="rId7"/>
          <a:stretch>
            <a:fillRect/>
          </a:stretch>
        </p:blipFill>
        <p:spPr>
          <a:xfrm>
            <a:off x="5250342" y="2898648"/>
            <a:ext cx="633600" cy="402336"/>
          </a:xfrm>
          <a:prstGeom prst="rect">
            <a:avLst/>
          </a:prstGeom>
        </p:spPr>
      </p:pic>
      <p:pic>
        <p:nvPicPr>
          <p:cNvPr id="12" name="Zerodha" descr="Zerodha">    </p:cNvPr>
          <p:cNvPicPr>
            <a:picLocks noChangeAspect="1"/>
          </p:cNvPicPr>
          <p:nvPr/>
        </p:nvPicPr>
        <p:blipFill>
          <a:blip r:embed="rId8"/>
          <a:stretch>
            <a:fillRect/>
          </a:stretch>
        </p:blipFill>
        <p:spPr>
          <a:xfrm>
            <a:off x="6431271" y="3040677"/>
            <a:ext cx="972146" cy="118278"/>
          </a:xfrm>
          <a:prstGeom prst="rect">
            <a:avLst/>
          </a:prstGeom>
        </p:spPr>
      </p:pic>
      <p:pic>
        <p:nvPicPr>
          <p:cNvPr id="13" name="SuperYou" descr="SuperYou">    </p:cNvPr>
          <p:cNvPicPr>
            <a:picLocks noChangeAspect="1"/>
          </p:cNvPicPr>
          <p:nvPr/>
        </p:nvPicPr>
        <p:blipFill>
          <a:blip r:embed="rId9"/>
          <a:stretch>
            <a:fillRect/>
          </a:stretch>
        </p:blipFill>
        <p:spPr>
          <a:xfrm>
            <a:off x="7781475" y="2971007"/>
            <a:ext cx="972146" cy="257619"/>
          </a:xfrm>
          <a:prstGeom prst="rect">
            <a:avLst/>
          </a:prstGeom>
        </p:spPr>
      </p:pic>
      <p:pic>
        <p:nvPicPr>
          <p:cNvPr id="14" name="Red Bull" descr="Red Bull">    </p:cNvPr>
          <p:cNvPicPr>
            <a:picLocks noChangeAspect="1"/>
          </p:cNvPicPr>
          <p:nvPr/>
        </p:nvPicPr>
        <p:blipFill>
          <a:blip r:embed="rId10"/>
          <a:stretch>
            <a:fillRect/>
          </a:stretch>
        </p:blipFill>
        <p:spPr>
          <a:xfrm>
            <a:off x="9262748" y="2898648"/>
            <a:ext cx="710005" cy="402336"/>
          </a:xfrm>
          <a:prstGeom prst="rect">
            <a:avLst/>
          </a:prstGeom>
        </p:spPr>
      </p:pic>
      <p:pic>
        <p:nvPicPr>
          <p:cNvPr id="15" name="Illinois Institute of Technology" descr="Illinois Institute of Technology">    </p:cNvPr>
          <p:cNvPicPr>
            <a:picLocks noChangeAspect="1"/>
          </p:cNvPicPr>
          <p:nvPr/>
        </p:nvPicPr>
        <p:blipFill>
          <a:blip r:embed="rId11"/>
          <a:stretch>
            <a:fillRect/>
          </a:stretch>
        </p:blipFill>
        <p:spPr>
          <a:xfrm>
            <a:off x="10766786" y="2898648"/>
            <a:ext cx="402336" cy="402336"/>
          </a:xfrm>
          <a:prstGeom prst="rect">
            <a:avLst/>
          </a:prstGeom>
        </p:spPr>
      </p:pic>
      <p:pic>
        <p:nvPicPr>
          <p:cNvPr id="16" name="Shark Tank India" descr="Shark Tank India">    </p:cNvPr>
          <p:cNvPicPr>
            <a:picLocks noChangeAspect="1"/>
          </p:cNvPicPr>
          <p:nvPr/>
        </p:nvPicPr>
        <p:blipFill>
          <a:blip r:embed="rId12"/>
          <a:stretch>
            <a:fillRect/>
          </a:stretch>
        </p:blipFill>
        <p:spPr>
          <a:xfrm>
            <a:off x="5414356" y="3776472"/>
            <a:ext cx="305572" cy="402336"/>
          </a:xfrm>
          <a:prstGeom prst="rect">
            <a:avLst/>
          </a:prstGeom>
        </p:spPr>
      </p:pic>
      <p:pic>
        <p:nvPicPr>
          <p:cNvPr id="17" name="ITC Limited" descr="ITC Limited">    </p:cNvPr>
          <p:cNvPicPr>
            <a:picLocks noChangeAspect="1"/>
          </p:cNvPicPr>
          <p:nvPr/>
        </p:nvPicPr>
        <p:blipFill>
          <a:blip r:embed="rId13"/>
          <a:stretch>
            <a:fillRect/>
          </a:stretch>
        </p:blipFill>
        <p:spPr>
          <a:xfrm>
            <a:off x="6726362" y="3776472"/>
            <a:ext cx="381965" cy="402336"/>
          </a:xfrm>
          <a:prstGeom prst="rect">
            <a:avLst/>
          </a:prstGeom>
        </p:spPr>
      </p:pic>
      <p:pic>
        <p:nvPicPr>
          <p:cNvPr id="18" name="Philips" descr="Philips">    </p:cNvPr>
          <p:cNvPicPr>
            <a:picLocks noChangeAspect="1"/>
          </p:cNvPicPr>
          <p:nvPr/>
        </p:nvPicPr>
        <p:blipFill>
          <a:blip r:embed="rId14"/>
          <a:stretch>
            <a:fillRect/>
          </a:stretch>
        </p:blipFill>
        <p:spPr>
          <a:xfrm>
            <a:off x="7781475" y="3887716"/>
            <a:ext cx="972146" cy="179847"/>
          </a:xfrm>
          <a:prstGeom prst="rect">
            <a:avLst/>
          </a:prstGeom>
        </p:spPr>
      </p:pic>
      <p:pic>
        <p:nvPicPr>
          <p:cNvPr id="19" name="Ferrari" descr="Ferrari">    </p:cNvPr>
          <p:cNvPicPr>
            <a:picLocks noChangeAspect="1"/>
          </p:cNvPicPr>
          <p:nvPr/>
        </p:nvPicPr>
        <p:blipFill>
          <a:blip r:embed="rId15"/>
          <a:stretch>
            <a:fillRect/>
          </a:stretch>
        </p:blipFill>
        <p:spPr>
          <a:xfrm>
            <a:off x="9470195" y="3776472"/>
            <a:ext cx="295112" cy="402336"/>
          </a:xfrm>
          <a:prstGeom prst="rect">
            <a:avLst/>
          </a:prstGeom>
        </p:spPr>
      </p:pic>
      <p:pic>
        <p:nvPicPr>
          <p:cNvPr id="20" name="Snitch" descr="Snitch">    </p:cNvPr>
          <p:cNvPicPr>
            <a:picLocks noChangeAspect="1"/>
          </p:cNvPicPr>
          <p:nvPr/>
        </p:nvPicPr>
        <p:blipFill>
          <a:blip r:embed="rId16"/>
          <a:stretch>
            <a:fillRect/>
          </a:stretch>
        </p:blipFill>
        <p:spPr>
          <a:xfrm>
            <a:off x="10819673" y="3776472"/>
            <a:ext cx="296562" cy="402336"/>
          </a:xfrm>
          <a:prstGeom prst="rect">
            <a:avLst/>
          </a:prstGeom>
        </p:spPr>
      </p:pic>
      <p:pic>
        <p:nvPicPr>
          <p:cNvPr id="21" name="Peakst8" descr="Peakst8">    </p:cNvPr>
          <p:cNvPicPr>
            <a:picLocks noChangeAspect="1"/>
          </p:cNvPicPr>
          <p:nvPr/>
        </p:nvPicPr>
        <p:blipFill>
          <a:blip r:embed="rId17"/>
          <a:stretch>
            <a:fillRect/>
          </a:stretch>
        </p:blipFill>
        <p:spPr>
          <a:xfrm>
            <a:off x="5101115" y="4654296"/>
            <a:ext cx="932053" cy="402336"/>
          </a:xfrm>
          <a:prstGeom prst="rect">
            <a:avLst/>
          </a:prstGeom>
        </p:spPr>
      </p:pic>
      <p:pic>
        <p:nvPicPr>
          <p:cNvPr id="22" name="Reebok" descr="Reebok">    </p:cNvPr>
          <p:cNvPicPr>
            <a:picLocks noChangeAspect="1"/>
          </p:cNvPicPr>
          <p:nvPr/>
        </p:nvPicPr>
        <p:blipFill>
          <a:blip r:embed="rId18"/>
          <a:stretch>
            <a:fillRect/>
          </a:stretch>
        </p:blipFill>
        <p:spPr>
          <a:xfrm>
            <a:off x="6486270" y="4654296"/>
            <a:ext cx="862149" cy="402336"/>
          </a:xfrm>
          <a:prstGeom prst="rect">
            <a:avLst/>
          </a:prstGeom>
        </p:spPr>
      </p:pic>
      <p:pic>
        <p:nvPicPr>
          <p:cNvPr id="23" name="Your Space" descr="Your Space">    </p:cNvPr>
          <p:cNvPicPr>
            <a:picLocks noChangeAspect="1"/>
          </p:cNvPicPr>
          <p:nvPr/>
        </p:nvPicPr>
        <p:blipFill>
          <a:blip r:embed="rId19"/>
          <a:stretch>
            <a:fillRect/>
          </a:stretch>
        </p:blipFill>
        <p:spPr>
          <a:xfrm>
            <a:off x="7781475" y="4691819"/>
            <a:ext cx="972146" cy="327289"/>
          </a:xfrm>
          <a:prstGeom prst="rect">
            <a:avLst/>
          </a:prstGeom>
        </p:spPr>
      </p:pic>
      <p:pic>
        <p:nvPicPr>
          <p:cNvPr id="24" name="Hero" descr="Hero">    </p:cNvPr>
          <p:cNvPicPr>
            <a:picLocks noChangeAspect="1"/>
          </p:cNvPicPr>
          <p:nvPr/>
        </p:nvPicPr>
        <p:blipFill>
          <a:blip r:embed="rId20"/>
          <a:stretch>
            <a:fillRect/>
          </a:stretch>
        </p:blipFill>
        <p:spPr>
          <a:xfrm>
            <a:off x="9439199" y="4654296"/>
            <a:ext cx="357103" cy="402336"/>
          </a:xfrm>
          <a:prstGeom prst="rect">
            <a:avLst/>
          </a:prstGeom>
        </p:spPr>
      </p:pic>
      <p:pic>
        <p:nvPicPr>
          <p:cNvPr id="25" name="Agoda" descr="Agoda">    </p:cNvPr>
          <p:cNvPicPr>
            <a:picLocks noChangeAspect="1"/>
          </p:cNvPicPr>
          <p:nvPr/>
        </p:nvPicPr>
        <p:blipFill>
          <a:blip r:embed="rId21"/>
          <a:stretch>
            <a:fillRect/>
          </a:stretch>
        </p:blipFill>
        <p:spPr>
          <a:xfrm>
            <a:off x="10572213" y="4654296"/>
            <a:ext cx="791481" cy="402336"/>
          </a:xfrm>
          <a:prstGeom prst="rect">
            <a:avLst/>
          </a:prstGeom>
        </p:spPr>
      </p:pic>
      <p:pic>
        <p:nvPicPr>
          <p:cNvPr id="26" name="MakeMyTrip" descr="MakeMyTrip">    </p:cNvPr>
          <p:cNvPicPr>
            <a:picLocks noChangeAspect="1"/>
          </p:cNvPicPr>
          <p:nvPr/>
        </p:nvPicPr>
        <p:blipFill>
          <a:blip r:embed="rId22"/>
          <a:stretch>
            <a:fillRect/>
          </a:stretch>
        </p:blipFill>
        <p:spPr>
          <a:xfrm>
            <a:off x="5365974" y="5532120"/>
            <a:ext cx="402336" cy="402336"/>
          </a:xfrm>
          <a:prstGeom prst="rect">
            <a:avLst/>
          </a:prstGeom>
        </p:spPr>
      </p:pic>
      <p:pic>
        <p:nvPicPr>
          <p:cNvPr id="27" name="Meesho" descr="Meesho">    </p:cNvPr>
          <p:cNvPicPr>
            <a:picLocks noChangeAspect="1"/>
          </p:cNvPicPr>
          <p:nvPr/>
        </p:nvPicPr>
        <p:blipFill>
          <a:blip r:embed="rId23"/>
          <a:stretch>
            <a:fillRect/>
          </a:stretch>
        </p:blipFill>
        <p:spPr>
          <a:xfrm>
            <a:off x="6431271" y="5621491"/>
            <a:ext cx="972146" cy="223594"/>
          </a:xfrm>
          <a:prstGeom prst="rect">
            <a:avLst/>
          </a:prstGeom>
        </p:spPr>
      </p:pic>
      <p:pic>
        <p:nvPicPr>
          <p:cNvPr id="28" name="NVIDIA" descr="NVIDIA">    </p:cNvPr>
          <p:cNvPicPr>
            <a:picLocks noChangeAspect="1"/>
          </p:cNvPicPr>
          <p:nvPr/>
        </p:nvPicPr>
        <p:blipFill>
          <a:blip r:embed="rId24"/>
          <a:stretch>
            <a:fillRect/>
          </a:stretch>
        </p:blipFill>
        <p:spPr>
          <a:xfrm>
            <a:off x="7781475" y="5640934"/>
            <a:ext cx="972146" cy="184708"/>
          </a:xfrm>
          <a:prstGeom prst="rect">
            <a:avLst/>
          </a:prstGeom>
        </p:spPr>
      </p:pic>
      <p:pic>
        <p:nvPicPr>
          <p:cNvPr id="29" name="upGrad" descr="upGrad">    </p:cNvPr>
          <p:cNvPicPr>
            <a:picLocks noChangeAspect="1"/>
          </p:cNvPicPr>
          <p:nvPr/>
        </p:nvPicPr>
        <p:blipFill>
          <a:blip r:embed="rId25"/>
          <a:stretch>
            <a:fillRect/>
          </a:stretch>
        </p:blipFill>
        <p:spPr>
          <a:xfrm>
            <a:off x="9131678" y="5608529"/>
            <a:ext cx="972146" cy="249518"/>
          </a:xfrm>
          <a:prstGeom prst="rect">
            <a:avLst/>
          </a:prstGeom>
        </p:spPr>
      </p:pic>
      <p:pic>
        <p:nvPicPr>
          <p:cNvPr id="30" name="Myntra" descr="Myntra">    </p:cNvPr>
          <p:cNvPicPr>
            <a:picLocks noChangeAspect="1"/>
          </p:cNvPicPr>
          <p:nvPr/>
        </p:nvPicPr>
        <p:blipFill>
          <a:blip r:embed="rId26"/>
          <a:stretch>
            <a:fillRect/>
          </a:stretch>
        </p:blipFill>
        <p:spPr>
          <a:xfrm>
            <a:off x="10481881" y="5585846"/>
            <a:ext cx="972146" cy="294884"/>
          </a:xfrm>
          <a:prstGeom prst="rect">
            <a:avLst/>
          </a:prstGeom>
        </p:spPr>
      </p:pic>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bg1"/>
                </a:solidFill>
              </a:rPr>
              <a:t>Mark Your Place in the Milky Way</a:t>
            </a:r>
            <a:endParaRPr lang="en-US" sz="3600" dirty="0"/>
          </a:p>
        </p:txBody>
      </p:sp>
      <p:sp>
        <p:nvSpPr>
          <p:cNvPr id="3" name="SPONSORSHIP 2027"/>
          <p:cNvSpPr txBox="1"/>
          <p:nvPr/>
        </p:nvSpPr>
        <p:spPr>
          <a:xfrm>
            <a:off x="548640" y="457200"/>
            <a:ext cx="8229600" cy="274320"/>
          </a:xfrm>
          <a:prstGeom prst="rect">
            <a:avLst/>
          </a:prstGeom>
          <a:noFill/>
          <a:ln/>
        </p:spPr>
        <p:txBody>
          <a:bodyPr wrap="square" lIns="0" tIns="0" rIns="0" bIns="0" rtlCol="0" anchor="t"/>
          <a:lstStyle/>
          <a:p>
            <a:pPr algn="l" indent="0" marL="0">
              <a:lnSpc>
                <a:spcPct val="100000"/>
              </a:lnSpc>
              <a:buNone/>
            </a:pPr>
            <a:r>
              <a:rPr lang="en-US" sz="1100" b="1" spc="250" kern="0" dirty="0">
                <a:solidFill>
                  <a:schemeClr val="accent1"/>
                </a:solidFill>
              </a:rPr>
              <a:t>SPONSORSHIP 2027</a:t>
            </a:r>
            <a:endParaRPr lang="en-US" sz="1100" dirty="0"/>
          </a:p>
        </p:txBody>
      </p:sp>
      <p:sp>
        <p:nvSpPr>
          <p:cNvPr id="4" name="Four orbits around one festival."/>
          <p:cNvSpPr txBox="1"/>
          <p:nvPr/>
        </p:nvSpPr>
        <p:spPr>
          <a:xfrm>
            <a:off x="548640" y="1828800"/>
            <a:ext cx="6858000" cy="457200"/>
          </a:xfrm>
          <a:prstGeom prst="rect">
            <a:avLst/>
          </a:prstGeom>
          <a:noFill/>
          <a:ln/>
        </p:spPr>
        <p:txBody>
          <a:bodyPr wrap="square" lIns="0" tIns="0" rIns="0" bIns="0" rtlCol="0" anchor="t"/>
          <a:lstStyle/>
          <a:p>
            <a:pPr algn="l" indent="0" marL="0">
              <a:lnSpc>
                <a:spcPct val="100000"/>
              </a:lnSpc>
              <a:buNone/>
            </a:pPr>
            <a:r>
              <a:rPr lang="en-US" sz="1800" dirty="0">
                <a:solidFill>
                  <a:schemeClr val="bg1"/>
                </a:solidFill>
              </a:rPr>
              <a:t>Four orbits around one festival.</a:t>
            </a:r>
            <a:endParaRPr lang="en-US" sz="1800" dirty="0"/>
          </a:p>
        </p:txBody>
      </p:sp>
      <p:pic>
        <p:nvPicPr>
          <p:cNvPr id="5" name="Planet" descr="/Users/xadxtyax/Library/Application Support/Claude/scratch-workspaces/7159731d-a44a-4097-bf70-afdcfed87503/0bd4f3ce-9e23-4993-bb7f-0a40b4577418/scratch-2026-09-29-b4af05/deck/.build/assets/ringed-planet-4-paper-1000.png">    </p:cNvPr>
          <p:cNvPicPr>
            <a:picLocks noChangeAspect="1"/>
          </p:cNvPicPr>
          <p:nvPr/>
        </p:nvPicPr>
        <p:blipFill>
          <a:blip r:embed="rId1"/>
          <a:stretch>
            <a:fillRect/>
          </a:stretch>
        </p:blipFill>
        <p:spPr>
          <a:xfrm>
            <a:off x="9692640" y="411480"/>
            <a:ext cx="1965960" cy="1588496"/>
          </a:xfrm>
          <a:prstGeom prst="rect">
            <a:avLst/>
          </a:prstGeom>
        </p:spPr>
      </p:pic>
      <p:sp>
        <p:nvSpPr>
          <p:cNvPr id="6" name="Title Partner"/>
          <p:cNvSpPr/>
          <p:nvPr/>
        </p:nvSpPr>
        <p:spPr>
          <a:xfrm>
            <a:off x="548640" y="2788920"/>
            <a:ext cx="2602154" cy="3246120"/>
          </a:xfrm>
          <a:custGeom>
            <a:avLst/>
            <a:gdLst/>
            <a:ahLst/>
            <a:cxnLst/>
            <a:rect l="l" t="t" r="r" b="b"/>
            <a:pathLst>
              <a:path w="2602154" h="3246120">
                <a:moveTo>
                  <a:pt x="0" y="54864"/>
                </a:moveTo>
                <a:lnTo>
                  <a:pt x="2569235" y="0"/>
                </a:lnTo>
                <a:lnTo>
                  <a:pt x="2602154" y="3191256"/>
                </a:lnTo>
                <a:lnTo>
                  <a:pt x="32918" y="3246120"/>
                </a:lnTo>
                <a:close/>
              </a:path>
            </a:pathLst>
          </a:custGeom>
          <a:solidFill>
            <a:schemeClr val="accent1"/>
          </a:solidFill>
          <a:ln/>
        </p:spPr>
      </p:sp>
      <p:sp>
        <p:nvSpPr>
          <p:cNvPr id="7" name="01"/>
          <p:cNvSpPr txBox="1"/>
          <p:nvPr/>
        </p:nvSpPr>
        <p:spPr>
          <a:xfrm>
            <a:off x="822960" y="3063240"/>
            <a:ext cx="2053514" cy="274320"/>
          </a:xfrm>
          <a:prstGeom prst="rect">
            <a:avLst/>
          </a:prstGeom>
          <a:noFill/>
          <a:ln/>
        </p:spPr>
        <p:txBody>
          <a:bodyPr wrap="square" lIns="0" tIns="0" rIns="0" bIns="0" rtlCol="0" anchor="t"/>
          <a:lstStyle/>
          <a:p>
            <a:pPr algn="l" indent="0" marL="0">
              <a:lnSpc>
                <a:spcPct val="100000"/>
              </a:lnSpc>
              <a:buNone/>
            </a:pPr>
            <a:r>
              <a:rPr lang="en-US" sz="1200" b="1" dirty="0">
                <a:solidFill>
                  <a:schemeClr val="tx1"/>
                </a:solidFill>
              </a:rPr>
              <a:t>01</a:t>
            </a:r>
            <a:endParaRPr lang="en-US" sz="1200" dirty="0"/>
          </a:p>
        </p:txBody>
      </p:sp>
      <p:sp>
        <p:nvSpPr>
          <p:cNvPr id="8" name="TITLE PARTNER"/>
          <p:cNvSpPr txBox="1"/>
          <p:nvPr/>
        </p:nvSpPr>
        <p:spPr>
          <a:xfrm>
            <a:off x="822960" y="3429000"/>
            <a:ext cx="2144954" cy="1097280"/>
          </a:xfrm>
          <a:prstGeom prst="rect">
            <a:avLst/>
          </a:prstGeom>
          <a:noFill/>
          <a:ln/>
        </p:spPr>
        <p:txBody>
          <a:bodyPr wrap="square" lIns="0" tIns="0" rIns="0" bIns="0" rtlCol="0" anchor="t"/>
          <a:lstStyle/>
          <a:p>
            <a:pPr algn="l" indent="0" marL="0">
              <a:lnSpc>
                <a:spcPct val="92000"/>
              </a:lnSpc>
              <a:buNone/>
            </a:pPr>
            <a:r>
              <a:rPr lang="en-US" sz="2400" b="1" dirty="0">
                <a:solidFill>
                  <a:schemeClr val="tx1"/>
                </a:solidFill>
              </a:rPr>
              <a:t>TITLE PARTNER</a:t>
            </a:r>
            <a:endParaRPr lang="en-US" sz="2400" dirty="0"/>
          </a:p>
        </p:txBody>
      </p:sp>
      <p:sp>
        <p:nvSpPr>
          <p:cNvPr id="9" name="Title integration with Milky Way"/>
          <p:cNvSpPr txBox="1"/>
          <p:nvPr/>
        </p:nvSpPr>
        <p:spPr>
          <a:xfrm>
            <a:off x="822960" y="4709160"/>
            <a:ext cx="2053514" cy="1097280"/>
          </a:xfrm>
          <a:prstGeom prst="rect">
            <a:avLst/>
          </a:prstGeom>
          <a:noFill/>
          <a:ln/>
        </p:spPr>
        <p:txBody>
          <a:bodyPr wrap="square" lIns="0" tIns="0" rIns="0" bIns="0" rtlCol="0" anchor="t"/>
          <a:lstStyle/>
          <a:p>
            <a:pPr algn="l" indent="0" marL="0">
              <a:lnSpc>
                <a:spcPct val="100000"/>
              </a:lnSpc>
              <a:buNone/>
            </a:pPr>
            <a:r>
              <a:rPr lang="en-US" sz="1500" dirty="0">
                <a:solidFill>
                  <a:schemeClr val="tx1"/>
                </a:solidFill>
              </a:rPr>
              <a:t>Title integration with Milky Way</a:t>
            </a:r>
            <a:endParaRPr lang="en-US" sz="1500" dirty="0"/>
          </a:p>
        </p:txBody>
      </p:sp>
      <p:sp>
        <p:nvSpPr>
          <p:cNvPr id="10" name="Powered By"/>
          <p:cNvSpPr/>
          <p:nvPr/>
        </p:nvSpPr>
        <p:spPr>
          <a:xfrm>
            <a:off x="3379394" y="2788920"/>
            <a:ext cx="2602154" cy="3246120"/>
          </a:xfrm>
          <a:custGeom>
            <a:avLst/>
            <a:gdLst/>
            <a:ahLst/>
            <a:cxnLst/>
            <a:rect l="l" t="t" r="r" b="b"/>
            <a:pathLst>
              <a:path w="2602154" h="3246120">
                <a:moveTo>
                  <a:pt x="0" y="54864"/>
                </a:moveTo>
                <a:lnTo>
                  <a:pt x="2569235" y="0"/>
                </a:lnTo>
                <a:lnTo>
                  <a:pt x="2602154" y="3191256"/>
                </a:lnTo>
                <a:lnTo>
                  <a:pt x="32918" y="3246120"/>
                </a:lnTo>
                <a:close/>
              </a:path>
            </a:pathLst>
          </a:custGeom>
          <a:solidFill>
            <a:schemeClr val="accent2"/>
          </a:solidFill>
          <a:ln/>
        </p:spPr>
      </p:sp>
      <p:sp>
        <p:nvSpPr>
          <p:cNvPr id="11" name="02"/>
          <p:cNvSpPr txBox="1"/>
          <p:nvPr/>
        </p:nvSpPr>
        <p:spPr>
          <a:xfrm>
            <a:off x="3653714" y="3063240"/>
            <a:ext cx="2053514" cy="274320"/>
          </a:xfrm>
          <a:prstGeom prst="rect">
            <a:avLst/>
          </a:prstGeom>
          <a:noFill/>
          <a:ln/>
        </p:spPr>
        <p:txBody>
          <a:bodyPr wrap="square" lIns="0" tIns="0" rIns="0" bIns="0" rtlCol="0" anchor="t"/>
          <a:lstStyle/>
          <a:p>
            <a:pPr algn="l" indent="0" marL="0">
              <a:lnSpc>
                <a:spcPct val="100000"/>
              </a:lnSpc>
              <a:buNone/>
            </a:pPr>
            <a:r>
              <a:rPr lang="en-US" sz="1200" b="1" dirty="0">
                <a:solidFill>
                  <a:schemeClr val="tx1"/>
                </a:solidFill>
              </a:rPr>
              <a:t>02</a:t>
            </a:r>
            <a:endParaRPr lang="en-US" sz="1200" dirty="0"/>
          </a:p>
        </p:txBody>
      </p:sp>
      <p:sp>
        <p:nvSpPr>
          <p:cNvPr id="12" name="POWERED BY"/>
          <p:cNvSpPr txBox="1"/>
          <p:nvPr/>
        </p:nvSpPr>
        <p:spPr>
          <a:xfrm>
            <a:off x="3653714" y="3429000"/>
            <a:ext cx="2144954" cy="1097280"/>
          </a:xfrm>
          <a:prstGeom prst="rect">
            <a:avLst/>
          </a:prstGeom>
          <a:noFill/>
          <a:ln/>
        </p:spPr>
        <p:txBody>
          <a:bodyPr wrap="square" lIns="0" tIns="0" rIns="0" bIns="0" rtlCol="0" anchor="t"/>
          <a:lstStyle/>
          <a:p>
            <a:pPr algn="l" indent="0" marL="0">
              <a:lnSpc>
                <a:spcPct val="92000"/>
              </a:lnSpc>
              <a:buNone/>
            </a:pPr>
            <a:r>
              <a:rPr lang="en-US" sz="2400" b="1" dirty="0">
                <a:solidFill>
                  <a:schemeClr val="tx1"/>
                </a:solidFill>
              </a:rPr>
              <a:t>POWERED BY</a:t>
            </a:r>
            <a:endParaRPr lang="en-US" sz="2400" dirty="0"/>
          </a:p>
        </p:txBody>
      </p:sp>
      <p:sp>
        <p:nvSpPr>
          <p:cNvPr id="13" name="“Powered By” association"/>
          <p:cNvSpPr txBox="1"/>
          <p:nvPr/>
        </p:nvSpPr>
        <p:spPr>
          <a:xfrm>
            <a:off x="3653714" y="4709160"/>
            <a:ext cx="2053514" cy="1097280"/>
          </a:xfrm>
          <a:prstGeom prst="rect">
            <a:avLst/>
          </a:prstGeom>
          <a:noFill/>
          <a:ln/>
        </p:spPr>
        <p:txBody>
          <a:bodyPr wrap="square" lIns="0" tIns="0" rIns="0" bIns="0" rtlCol="0" anchor="t"/>
          <a:lstStyle/>
          <a:p>
            <a:pPr algn="l" indent="0" marL="0">
              <a:lnSpc>
                <a:spcPct val="100000"/>
              </a:lnSpc>
              <a:buNone/>
            </a:pPr>
            <a:r>
              <a:rPr lang="en-US" sz="1500" dirty="0">
                <a:solidFill>
                  <a:schemeClr val="tx1"/>
                </a:solidFill>
              </a:rPr>
              <a:t>“Powered By” association</a:t>
            </a:r>
            <a:endParaRPr lang="en-US" sz="1500" dirty="0"/>
          </a:p>
        </p:txBody>
      </p:sp>
      <p:sp>
        <p:nvSpPr>
          <p:cNvPr id="14" name="Associate"/>
          <p:cNvSpPr/>
          <p:nvPr/>
        </p:nvSpPr>
        <p:spPr>
          <a:xfrm>
            <a:off x="6210148" y="2788920"/>
            <a:ext cx="2602154" cy="3246120"/>
          </a:xfrm>
          <a:custGeom>
            <a:avLst/>
            <a:gdLst/>
            <a:ahLst/>
            <a:cxnLst/>
            <a:rect l="l" t="t" r="r" b="b"/>
            <a:pathLst>
              <a:path w="2602154" h="3246120">
                <a:moveTo>
                  <a:pt x="0" y="54864"/>
                </a:moveTo>
                <a:lnTo>
                  <a:pt x="2569235" y="0"/>
                </a:lnTo>
                <a:lnTo>
                  <a:pt x="2602154" y="3191256"/>
                </a:lnTo>
                <a:lnTo>
                  <a:pt x="32918" y="3246120"/>
                </a:lnTo>
                <a:close/>
              </a:path>
            </a:pathLst>
          </a:custGeom>
          <a:solidFill>
            <a:schemeClr val="accent3"/>
          </a:solidFill>
          <a:ln/>
        </p:spPr>
      </p:sp>
      <p:sp>
        <p:nvSpPr>
          <p:cNvPr id="15" name="03"/>
          <p:cNvSpPr txBox="1"/>
          <p:nvPr/>
        </p:nvSpPr>
        <p:spPr>
          <a:xfrm>
            <a:off x="6484468" y="3063240"/>
            <a:ext cx="2053514" cy="274320"/>
          </a:xfrm>
          <a:prstGeom prst="rect">
            <a:avLst/>
          </a:prstGeom>
          <a:noFill/>
          <a:ln/>
        </p:spPr>
        <p:txBody>
          <a:bodyPr wrap="square" lIns="0" tIns="0" rIns="0" bIns="0" rtlCol="0" anchor="t"/>
          <a:lstStyle/>
          <a:p>
            <a:pPr algn="l" indent="0" marL="0">
              <a:lnSpc>
                <a:spcPct val="100000"/>
              </a:lnSpc>
              <a:buNone/>
            </a:pPr>
            <a:r>
              <a:rPr lang="en-US" sz="1200" b="1" dirty="0">
                <a:solidFill>
                  <a:schemeClr val="tx1"/>
                </a:solidFill>
              </a:rPr>
              <a:t>03</a:t>
            </a:r>
            <a:endParaRPr lang="en-US" sz="1200" dirty="0"/>
          </a:p>
        </p:txBody>
      </p:sp>
      <p:sp>
        <p:nvSpPr>
          <p:cNvPr id="16" name="ASSOCIATE"/>
          <p:cNvSpPr txBox="1"/>
          <p:nvPr/>
        </p:nvSpPr>
        <p:spPr>
          <a:xfrm>
            <a:off x="6484468" y="3429000"/>
            <a:ext cx="2144954" cy="1097280"/>
          </a:xfrm>
          <a:prstGeom prst="rect">
            <a:avLst/>
          </a:prstGeom>
          <a:noFill/>
          <a:ln/>
        </p:spPr>
        <p:txBody>
          <a:bodyPr wrap="square" lIns="0" tIns="0" rIns="0" bIns="0" rtlCol="0" anchor="t"/>
          <a:lstStyle/>
          <a:p>
            <a:pPr algn="l" indent="0" marL="0">
              <a:lnSpc>
                <a:spcPct val="92000"/>
              </a:lnSpc>
              <a:buNone/>
            </a:pPr>
            <a:r>
              <a:rPr lang="en-US" sz="2400" b="1" dirty="0">
                <a:solidFill>
                  <a:schemeClr val="tx1"/>
                </a:solidFill>
              </a:rPr>
              <a:t>ASSOCIATE</a:t>
            </a:r>
            <a:endParaRPr lang="en-US" sz="2400" dirty="0"/>
          </a:p>
        </p:txBody>
      </p:sp>
      <p:sp>
        <p:nvSpPr>
          <p:cNvPr id="17" name="Associate designation"/>
          <p:cNvSpPr txBox="1"/>
          <p:nvPr/>
        </p:nvSpPr>
        <p:spPr>
          <a:xfrm>
            <a:off x="6484468" y="4709160"/>
            <a:ext cx="2053514" cy="1097280"/>
          </a:xfrm>
          <a:prstGeom prst="rect">
            <a:avLst/>
          </a:prstGeom>
          <a:noFill/>
          <a:ln/>
        </p:spPr>
        <p:txBody>
          <a:bodyPr wrap="square" lIns="0" tIns="0" rIns="0" bIns="0" rtlCol="0" anchor="t"/>
          <a:lstStyle/>
          <a:p>
            <a:pPr algn="l" indent="0" marL="0">
              <a:lnSpc>
                <a:spcPct val="100000"/>
              </a:lnSpc>
              <a:buNone/>
            </a:pPr>
            <a:r>
              <a:rPr lang="en-US" sz="1500" dirty="0">
                <a:solidFill>
                  <a:schemeClr val="tx1"/>
                </a:solidFill>
              </a:rPr>
              <a:t>Associate designation</a:t>
            </a:r>
            <a:endParaRPr lang="en-US" sz="1500" dirty="0"/>
          </a:p>
        </p:txBody>
      </p:sp>
      <p:sp>
        <p:nvSpPr>
          <p:cNvPr id="18" name="Co-Sponsor"/>
          <p:cNvSpPr/>
          <p:nvPr/>
        </p:nvSpPr>
        <p:spPr>
          <a:xfrm>
            <a:off x="9040901" y="2788920"/>
            <a:ext cx="2602154" cy="3246120"/>
          </a:xfrm>
          <a:custGeom>
            <a:avLst/>
            <a:gdLst/>
            <a:ahLst/>
            <a:cxnLst/>
            <a:rect l="l" t="t" r="r" b="b"/>
            <a:pathLst>
              <a:path w="2602154" h="3246120">
                <a:moveTo>
                  <a:pt x="0" y="54864"/>
                </a:moveTo>
                <a:lnTo>
                  <a:pt x="2569235" y="0"/>
                </a:lnTo>
                <a:lnTo>
                  <a:pt x="2602154" y="3191256"/>
                </a:lnTo>
                <a:lnTo>
                  <a:pt x="32918" y="3246120"/>
                </a:lnTo>
                <a:close/>
              </a:path>
            </a:pathLst>
          </a:custGeom>
          <a:solidFill>
            <a:schemeClr val="accent4"/>
          </a:solidFill>
          <a:ln/>
        </p:spPr>
      </p:sp>
      <p:sp>
        <p:nvSpPr>
          <p:cNvPr id="19" name="04"/>
          <p:cNvSpPr txBox="1"/>
          <p:nvPr/>
        </p:nvSpPr>
        <p:spPr>
          <a:xfrm>
            <a:off x="9315221" y="3063240"/>
            <a:ext cx="2053514" cy="274320"/>
          </a:xfrm>
          <a:prstGeom prst="rect">
            <a:avLst/>
          </a:prstGeom>
          <a:noFill/>
          <a:ln/>
        </p:spPr>
        <p:txBody>
          <a:bodyPr wrap="square" lIns="0" tIns="0" rIns="0" bIns="0" rtlCol="0" anchor="t"/>
          <a:lstStyle/>
          <a:p>
            <a:pPr algn="l" indent="0" marL="0">
              <a:lnSpc>
                <a:spcPct val="100000"/>
              </a:lnSpc>
              <a:buNone/>
            </a:pPr>
            <a:r>
              <a:rPr lang="en-US" sz="1200" b="1" dirty="0">
                <a:solidFill>
                  <a:schemeClr val="tx1"/>
                </a:solidFill>
              </a:rPr>
              <a:t>04</a:t>
            </a:r>
            <a:endParaRPr lang="en-US" sz="1200" dirty="0"/>
          </a:p>
        </p:txBody>
      </p:sp>
      <p:sp>
        <p:nvSpPr>
          <p:cNvPr id="20" name="CO-SPONSOR"/>
          <p:cNvSpPr txBox="1"/>
          <p:nvPr/>
        </p:nvSpPr>
        <p:spPr>
          <a:xfrm>
            <a:off x="9315221" y="3429000"/>
            <a:ext cx="2144954" cy="1097280"/>
          </a:xfrm>
          <a:prstGeom prst="rect">
            <a:avLst/>
          </a:prstGeom>
          <a:noFill/>
          <a:ln/>
        </p:spPr>
        <p:txBody>
          <a:bodyPr wrap="square" lIns="0" tIns="0" rIns="0" bIns="0" rtlCol="0" anchor="t"/>
          <a:lstStyle/>
          <a:p>
            <a:pPr algn="l" indent="0" marL="0">
              <a:lnSpc>
                <a:spcPct val="92000"/>
              </a:lnSpc>
              <a:buNone/>
            </a:pPr>
            <a:r>
              <a:rPr lang="en-US" sz="2400" b="1" dirty="0">
                <a:solidFill>
                  <a:schemeClr val="tx1"/>
                </a:solidFill>
              </a:rPr>
              <a:t>CO-SPONSOR</a:t>
            </a:r>
            <a:endParaRPr lang="en-US" sz="2400" dirty="0"/>
          </a:p>
        </p:txBody>
      </p:sp>
      <p:sp>
        <p:nvSpPr>
          <p:cNvPr id="21" name="Co-Sponsor designation"/>
          <p:cNvSpPr txBox="1"/>
          <p:nvPr/>
        </p:nvSpPr>
        <p:spPr>
          <a:xfrm>
            <a:off x="9315221" y="4709160"/>
            <a:ext cx="2053514" cy="1097280"/>
          </a:xfrm>
          <a:prstGeom prst="rect">
            <a:avLst/>
          </a:prstGeom>
          <a:noFill/>
          <a:ln/>
        </p:spPr>
        <p:txBody>
          <a:bodyPr wrap="square" lIns="0" tIns="0" rIns="0" bIns="0" rtlCol="0" anchor="t"/>
          <a:lstStyle/>
          <a:p>
            <a:pPr algn="l" indent="0" marL="0">
              <a:lnSpc>
                <a:spcPct val="100000"/>
              </a:lnSpc>
              <a:buNone/>
            </a:pPr>
            <a:r>
              <a:rPr lang="en-US" sz="1500" dirty="0">
                <a:solidFill>
                  <a:schemeClr val="tx1"/>
                </a:solidFill>
              </a:rPr>
              <a:t>Co-Sponsor designation</a:t>
            </a:r>
            <a:endParaRPr lang="en-US" sz="15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bg1"/>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tx1"/>
                </a:solidFill>
              </a:rPr>
              <a:t>What Each Orbit Carries (1/2)</a:t>
            </a:r>
            <a:endParaRPr lang="en-US" sz="3600" dirty="0"/>
          </a:p>
        </p:txBody>
      </p:sp>
      <p:graphicFrame>
        <p:nvGraphicFramePr>
          <p:cNvPr id="18" name="Deliverables"/>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057400"/>
                <a:gridCol w="2259254"/>
                <a:gridCol w="2259254"/>
                <a:gridCol w="2259254"/>
                <a:gridCol w="2259254"/>
              </a:tblGrid>
              <a:tr h="384048">
                <a:tc>
                  <a:txBody>
                    <a:bodyPr/>
                    <a:lstStyle/>
                    <a:p>
                      <a:pPr indent="0" marL="0">
                        <a:buNone/>
                      </a:pPr>
                      <a:r>
                        <a:rPr lang="en-US" sz="1000" b="1" spc="150" kern="0" dirty="0">
                          <a:solidFill>
                            <a:schemeClr val="tx1"/>
                          </a:solidFill>
                        </a:rPr>
                        <a:t>DELIVERABLE</a:t>
                      </a:r>
                      <a:endParaRPr lang="en-US" sz="10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TITLE PARTNER</a:t>
                      </a:r>
                      <a:endParaRPr lang="en-US" sz="13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POWERED BY</a:t>
                      </a:r>
                      <a:endParaRPr lang="en-US" sz="13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2"/>
                    </a:solidFill>
                  </a:tcPr>
                </a:tc>
                <a:tc>
                  <a:txBody>
                    <a:bodyPr/>
                    <a:lstStyle/>
                    <a:p>
                      <a:pPr indent="0" marL="0">
                        <a:buNone/>
                      </a:pPr>
                      <a:r>
                        <a:rPr lang="en-US" sz="1300" b="1" dirty="0">
                          <a:solidFill>
                            <a:schemeClr val="tx1"/>
                          </a:solidFill>
                        </a:rPr>
                        <a:t>ASSOCIATE</a:t>
                      </a:r>
                      <a:endParaRPr lang="en-US" sz="13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3"/>
                    </a:solidFill>
                  </a:tcPr>
                </a:tc>
                <a:tc>
                  <a:txBody>
                    <a:bodyPr/>
                    <a:lstStyle/>
                    <a:p>
                      <a:pPr indent="0" marL="0">
                        <a:buNone/>
                      </a:pPr>
                      <a:r>
                        <a:rPr lang="en-US" sz="1300" b="1" dirty="0">
                          <a:solidFill>
                            <a:schemeClr val="tx1"/>
                          </a:solidFill>
                        </a:rPr>
                        <a:t>CO-SPONSOR</a:t>
                      </a:r>
                      <a:endParaRPr lang="en-US" sz="13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4"/>
                    </a:solidFill>
                  </a:tcPr>
                </a:tc>
              </a:tr>
              <a:tr h="493776">
                <a:tc>
                  <a:txBody>
                    <a:bodyPr/>
                    <a:lstStyle/>
                    <a:p>
                      <a:pPr indent="0" marL="0">
                        <a:buNone/>
                      </a:pPr>
                      <a:r>
                        <a:rPr lang="en-US" sz="1100" b="1" dirty="0">
                          <a:solidFill>
                            <a:schemeClr val="tx1"/>
                          </a:solidFill>
                        </a:rPr>
                        <a:t>01  Brand Association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Title integration with Milky Way</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“Powered By” association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Associate designation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Co-Sponsor designation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02  Category Exclusivity</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Available where agreed</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03  Road to Milky Way</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Pan-city presence across all 7 cities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Pan-city presence across all 7 cities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Select city / RTM touchpoints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04  Main Festival Branding</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Highest visibility across key festival touchpoints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Extensive visibility</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Prominent visibility across select touchpoints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Select branding: sponsor walls, standees &amp; common areas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05  Stage &amp; Programming Visibility</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Primary main-stage visibility + branded AV opportunities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Prominent stage / programming-zone visibility + AV opportunities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Select stage / programming-zone visibility</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06  Emcee Mentions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Priority mentions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Multiple scheduled mentions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Select mentions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07  Experience Zone</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First choice of placement + premium space</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Priority placement + customisation support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Standard activation / booth space</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Booth space</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08  Curated Brand Activation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Up to 2 bespoke experiences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Up to 1 bespoke experience</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1 activation opportunity</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Booth-led engagement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1"/>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tx1"/>
                </a:solidFill>
              </a:rPr>
              <a:t>What Each Orbit Carries (2/2)</a:t>
            </a:r>
            <a:endParaRPr lang="en-US" sz="3600" dirty="0"/>
          </a:p>
        </p:txBody>
      </p:sp>
      <p:graphicFrame>
        <p:nvGraphicFramePr>
          <p:cNvPr id="19" name="Deliverables"/>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057400"/>
                <a:gridCol w="2259254"/>
                <a:gridCol w="2259254"/>
                <a:gridCol w="2259254"/>
                <a:gridCol w="2259254"/>
              </a:tblGrid>
              <a:tr h="384048">
                <a:tc>
                  <a:txBody>
                    <a:bodyPr/>
                    <a:lstStyle/>
                    <a:p>
                      <a:pPr indent="0" marL="0">
                        <a:buNone/>
                      </a:pPr>
                      <a:r>
                        <a:rPr lang="en-US" sz="1000" b="1" spc="150" kern="0" dirty="0">
                          <a:solidFill>
                            <a:schemeClr val="tx1"/>
                          </a:solidFill>
                        </a:rPr>
                        <a:t>DELIVERABLE</a:t>
                      </a:r>
                      <a:endParaRPr lang="en-US" sz="10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TITLE PARTNER</a:t>
                      </a:r>
                      <a:endParaRPr lang="en-US" sz="13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POWERED BY</a:t>
                      </a:r>
                      <a:endParaRPr lang="en-US" sz="13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2"/>
                    </a:solidFill>
                  </a:tcPr>
                </a:tc>
                <a:tc>
                  <a:txBody>
                    <a:bodyPr/>
                    <a:lstStyle/>
                    <a:p>
                      <a:pPr indent="0" marL="0">
                        <a:buNone/>
                      </a:pPr>
                      <a:r>
                        <a:rPr lang="en-US" sz="1300" b="1" dirty="0">
                          <a:solidFill>
                            <a:schemeClr val="tx1"/>
                          </a:solidFill>
                        </a:rPr>
                        <a:t>ASSOCIATE</a:t>
                      </a:r>
                      <a:endParaRPr lang="en-US" sz="13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3"/>
                    </a:solidFill>
                  </a:tcPr>
                </a:tc>
                <a:tc>
                  <a:txBody>
                    <a:bodyPr/>
                    <a:lstStyle/>
                    <a:p>
                      <a:pPr indent="0" marL="0">
                        <a:buNone/>
                      </a:pPr>
                      <a:r>
                        <a:rPr lang="en-US" sz="1300" b="1" dirty="0">
                          <a:solidFill>
                            <a:schemeClr val="tx1"/>
                          </a:solidFill>
                        </a:rPr>
                        <a:t>CO-SPONSOR</a:t>
                      </a:r>
                      <a:endParaRPr lang="en-US" sz="13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4"/>
                    </a:solidFill>
                  </a:tcPr>
                </a:tc>
              </a:tr>
              <a:tr h="493776">
                <a:tc>
                  <a:txBody>
                    <a:bodyPr/>
                    <a:lstStyle/>
                    <a:p>
                      <a:pPr indent="0" marL="0">
                        <a:buNone/>
                      </a:pPr>
                      <a:r>
                        <a:rPr lang="en-US" sz="1100" b="1" dirty="0">
                          <a:solidFill>
                            <a:schemeClr val="tx1"/>
                          </a:solidFill>
                        </a:rPr>
                        <a:t>09  Website Presence</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Premium placement across key pages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Prominent placement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Sponsor section + select pages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Sponsor section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10  Social Media</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Integrated visibility across the owned digital ecosystem</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Extensive planned coverage</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Planned social coverage</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Select stories, reels &amp; sponsor content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11  Email &amp; Direct Channels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Extensive integration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Select integration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Select inclusion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12  Artist / Headliner Integration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Priority opportunities, subject to rights &amp; availability</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Select opportunities, subject to rights &amp; availability</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13  PR &amp; Communications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Inclusion across key festival communications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Select PR inclusion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Sponsor acknowledgement where relevant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14  Festival Collateral</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Premium placement across key collateral</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Prominent placement across key collateral</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Select collateral</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Sponsor wall / select collateral</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15  Post-Event Value</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Detailed impact report + bespoke brand content / film</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Impact report + brand-film integration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Performance summary + event content</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Aftermovie inclusion</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r h="493776">
                <a:tc>
                  <a:txBody>
                    <a:bodyPr/>
                    <a:lstStyle/>
                    <a:p>
                      <a:pPr indent="0" marL="0">
                        <a:buNone/>
                      </a:pPr>
                      <a:r>
                        <a:rPr lang="en-US" sz="1100" b="1" dirty="0">
                          <a:solidFill>
                            <a:schemeClr val="tx1"/>
                          </a:solidFill>
                        </a:rPr>
                        <a:t>16  Partner Access Passes</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10+</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8</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5</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c>
                  <a:txBody>
                    <a:bodyPr/>
                    <a:lstStyle/>
                    <a:p>
                      <a:pPr indent="0" marL="0">
                        <a:buNone/>
                      </a:pPr>
                      <a:r>
                        <a:rPr lang="en-US" sz="1100" dirty="0">
                          <a:solidFill>
                            <a:schemeClr val="tx1"/>
                          </a:solidFill>
                        </a:rPr>
                        <a:t>3</a:t>
                      </a:r>
                      <a:endParaRPr lang="en-US" sz="1100" dirty="0"/>
                    </a:p>
                  </a:txBody>
                  <a:tcPr marL="91440" marR="91440" marT="54864" marB="54864" anchor="ctr">
                    <a:lnL w="12700" cap="flat" cmpd="sng" algn="ctr">
                      <a:solidFill>
                        <a:srgbClr val="161417"/>
                      </a:solidFill>
                      <a:prstDash val="solid"/>
                      <a:round/>
                      <a:headEnd type="none" w="med" len="med"/>
                      <a:tailEnd type="none" w="med" len="med"/>
                    </a:lnL>
                    <a:lnR w="12700" cap="flat" cmpd="sng" algn="ctr">
                      <a:solidFill>
                        <a:srgbClr val="161417"/>
                      </a:solidFill>
                      <a:prstDash val="solid"/>
                      <a:round/>
                      <a:headEnd type="none" w="med" len="med"/>
                      <a:tailEnd type="none" w="med" len="med"/>
                    </a:lnR>
                    <a:lnT w="12700" cap="flat" cmpd="sng" algn="ctr">
                      <a:solidFill>
                        <a:srgbClr val="161417"/>
                      </a:solidFill>
                      <a:prstDash val="solid"/>
                      <a:round/>
                      <a:headEnd type="none" w="med" len="med"/>
                      <a:tailEnd type="none" w="med" len="med"/>
                    </a:lnT>
                    <a:lnB w="12700" cap="flat" cmpd="sng" algn="ctr">
                      <a:solidFill>
                        <a:srgbClr val="161417"/>
                      </a:solidFill>
                      <a:prstDash val="solid"/>
                      <a:round/>
                      <a:headEnd type="none" w="med" len="med"/>
                      <a:tailEnd type="none" w="med" len="med"/>
                    </a:lnB>
                  </a:tcPr>
                </a:tc>
              </a:tr>
            </a:tbl>
          </a:graphicData>
        </a:graphic>
      </p:graphicFrame>
      <p:sp>
        <p:nvSpPr>
          <p:cNvPr id="4" name="*The deliverables can be further curated"/>
          <p:cNvSpPr txBox="1"/>
          <p:nvPr/>
        </p:nvSpPr>
        <p:spPr>
          <a:xfrm>
            <a:off x="548640" y="6053328"/>
            <a:ext cx="8229600" cy="274320"/>
          </a:xfrm>
          <a:prstGeom prst="rect">
            <a:avLst/>
          </a:prstGeom>
          <a:noFill/>
          <a:ln/>
        </p:spPr>
        <p:txBody>
          <a:bodyPr wrap="square" lIns="0" tIns="0" rIns="0" bIns="0" rtlCol="0" anchor="t"/>
          <a:lstStyle/>
          <a:p>
            <a:pPr algn="l" indent="0" marL="0">
              <a:lnSpc>
                <a:spcPct val="100000"/>
              </a:lnSpc>
              <a:buNone/>
            </a:pPr>
            <a:r>
              <a:rPr lang="en-US" sz="1200" b="1" dirty="0">
                <a:solidFill>
                  <a:schemeClr val="tx1"/>
                </a:solidFill>
              </a:rPr>
              <a:t>*The deliverables can be further curated specific to the company.</a:t>
            </a:r>
            <a:endParaRPr lang="en-US" sz="1200" dirty="0"/>
          </a:p>
        </p:txBody>
      </p:sp>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1"/>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8778240" cy="1371600"/>
          </a:xfrm>
          <a:prstGeom prst="rect">
            <a:avLst/>
          </a:prstGeom>
          <a:noFill/>
          <a:ln/>
        </p:spPr>
        <p:txBody>
          <a:bodyPr wrap="square" lIns="0" tIns="0" rIns="0" bIns="0" rtlCol="0" anchor="t"/>
          <a:lstStyle/>
          <a:p>
            <a:pPr indent="0" marL="0">
              <a:lnSpc>
                <a:spcPct val="92000"/>
              </a:lnSpc>
              <a:buNone/>
            </a:pPr>
            <a:r>
              <a:rPr lang="en-US" sz="3600" b="1" dirty="0">
                <a:solidFill>
                  <a:schemeClr val="tx1"/>
                </a:solidFill>
              </a:rPr>
              <a:t>Let's Build Something Out Of This World</a:t>
            </a:r>
            <a:endParaRPr lang="en-US" sz="3600" dirty="0"/>
          </a:p>
        </p:txBody>
      </p:sp>
      <p:sp>
        <p:nvSpPr>
          <p:cNvPr id="3" name="Send us a signal."/>
          <p:cNvSpPr txBox="1"/>
          <p:nvPr/>
        </p:nvSpPr>
        <p:spPr>
          <a:xfrm>
            <a:off x="548640" y="2057400"/>
            <a:ext cx="5486400" cy="457200"/>
          </a:xfrm>
          <a:prstGeom prst="rect">
            <a:avLst/>
          </a:prstGeom>
          <a:noFill/>
          <a:ln/>
        </p:spPr>
        <p:txBody>
          <a:bodyPr wrap="square" lIns="0" tIns="0" rIns="0" bIns="0" rtlCol="0" anchor="t"/>
          <a:lstStyle/>
          <a:p>
            <a:pPr algn="l" indent="0" marL="0">
              <a:lnSpc>
                <a:spcPct val="100000"/>
              </a:lnSpc>
              <a:buNone/>
            </a:pPr>
            <a:r>
              <a:rPr lang="en-US" sz="2200" b="1" dirty="0">
                <a:solidFill>
                  <a:schemeClr val="tx1"/>
                </a:solidFill>
              </a:rPr>
              <a:t>Send us a signal.</a:t>
            </a:r>
            <a:endParaRPr lang="en-US" sz="2200" dirty="0"/>
          </a:p>
        </p:txBody>
      </p:sp>
      <p:sp>
        <p:nvSpPr>
          <p:cNvPr id="4" name="Let's Connect">
            <a:hlinkClick r:id="rId1" tooltip=""/>
          </p:cNvPr>
          <p:cNvSpPr/>
          <p:nvPr/>
        </p:nvSpPr>
        <p:spPr>
          <a:xfrm>
            <a:off x="548640" y="2743200"/>
            <a:ext cx="2651760" cy="685800"/>
          </a:xfrm>
          <a:custGeom>
            <a:avLst/>
            <a:gdLst/>
            <a:ahLst/>
            <a:cxnLst/>
            <a:rect l="l" t="t" r="r" b="b"/>
            <a:pathLst>
              <a:path w="2651760" h="685800">
                <a:moveTo>
                  <a:pt x="0" y="54864"/>
                </a:moveTo>
                <a:lnTo>
                  <a:pt x="2618842" y="0"/>
                </a:lnTo>
                <a:lnTo>
                  <a:pt x="2651760" y="630936"/>
                </a:lnTo>
                <a:lnTo>
                  <a:pt x="32918" y="685800"/>
                </a:lnTo>
                <a:close/>
              </a:path>
            </a:pathLst>
          </a:custGeom>
          <a:solidFill>
            <a:schemeClr val="tx1"/>
          </a:solidFill>
          <a:ln/>
        </p:spPr>
      </p:sp>
      <p:sp>
        <p:nvSpPr>
          <p:cNvPr id="5" name="Text"/>
          <p:cNvSpPr txBox="1"/>
          <p:nvPr/>
        </p:nvSpPr>
        <p:spPr>
          <a:xfrm>
            <a:off x="822960" y="2743200"/>
            <a:ext cx="2194560" cy="685800"/>
          </a:xfrm>
          <a:prstGeom prst="rect">
            <a:avLst/>
          </a:prstGeom>
          <a:noFill/>
          <a:ln/>
        </p:spPr>
        <p:txBody>
          <a:bodyPr wrap="square" lIns="0" tIns="0" rIns="0" bIns="0" rtlCol="0" anchor="ctr"/>
          <a:lstStyle/>
          <a:p>
            <a:pPr algn="l" indent="0" marL="0">
              <a:lnSpc>
                <a:spcPct val="100000"/>
              </a:lnSpc>
              <a:buNone/>
            </a:pPr>
            <a:r>
              <a:rPr lang="en-US" sz="1600" b="1" u="sng" dirty="0">
                <a:solidFill>
                  <a:schemeClr val="accent4"/>
                </a:solidFill>
                <a:hlinkClick r:id="rId2" invalidUrl="" action="" tgtFrame="" tooltip="" history="1" highlightClick="0" endSnd="0">
                  <a:extLst>
                    <a:ext uri="{A12FA001-AC4F-418D-AE19-62706E023703}">
                      <ahyp:hlinkClr xmlns:ahyp="http://schemas.microsoft.com/office/drawing/2018/hyperlinkcolor" val="tx"/>
                    </a:ext>
                  </a:extLst>
                </a:hlinkClick>
              </a:rPr>
              <a:t>Let's Connect  ↗</a:t>
            </a:r>
            <a:endParaRPr lang="en-US" sz="1600" dirty="0"/>
          </a:p>
        </p:txBody>
      </p:sp>
      <p:sp>
        <p:nvSpPr>
          <p:cNvPr id="6" name="SPONSORSHIP TEAM"/>
          <p:cNvSpPr txBox="1"/>
          <p:nvPr/>
        </p:nvSpPr>
        <p:spPr>
          <a:xfrm>
            <a:off x="548640" y="3886200"/>
            <a:ext cx="5486400" cy="274320"/>
          </a:xfrm>
          <a:prstGeom prst="rect">
            <a:avLst/>
          </a:prstGeom>
          <a:noFill/>
          <a:ln/>
        </p:spPr>
        <p:txBody>
          <a:bodyPr wrap="square" lIns="0" tIns="0" rIns="0" bIns="0" rtlCol="0" anchor="t"/>
          <a:lstStyle/>
          <a:p>
            <a:pPr algn="l" indent="0" marL="0">
              <a:lnSpc>
                <a:spcPct val="100000"/>
              </a:lnSpc>
              <a:buNone/>
            </a:pPr>
            <a:r>
              <a:rPr lang="en-US" sz="1100" b="1" spc="250" kern="0" dirty="0">
                <a:solidFill>
                  <a:schemeClr val="tx1"/>
                </a:solidFill>
              </a:rPr>
              <a:t>SPONSORSHIP TEAM</a:t>
            </a:r>
            <a:endParaRPr lang="en-US" sz="1100" dirty="0"/>
          </a:p>
        </p:txBody>
      </p:sp>
      <p:sp>
        <p:nvSpPr>
          <p:cNvPr id="7" name="Ananya Singh"/>
          <p:cNvSpPr txBox="1"/>
          <p:nvPr/>
        </p:nvSpPr>
        <p:spPr>
          <a:xfrm>
            <a:off x="548640" y="4251960"/>
            <a:ext cx="5486400" cy="548640"/>
          </a:xfrm>
          <a:prstGeom prst="rect">
            <a:avLst/>
          </a:prstGeom>
          <a:noFill/>
          <a:ln/>
        </p:spPr>
        <p:txBody>
          <a:bodyPr wrap="square" lIns="0" tIns="0" rIns="0" bIns="0" rtlCol="0" anchor="t"/>
          <a:lstStyle/>
          <a:p>
            <a:pPr algn="l" indent="0" marL="0">
              <a:lnSpc>
                <a:spcPct val="100000"/>
              </a:lnSpc>
              <a:buNone/>
            </a:pPr>
            <a:r>
              <a:rPr lang="en-US" sz="3000" b="1" dirty="0">
                <a:solidFill>
                  <a:schemeClr val="tx1"/>
                </a:solidFill>
              </a:rPr>
              <a:t>Ananya Singh</a:t>
            </a:r>
            <a:endParaRPr lang="en-US" sz="3000" dirty="0"/>
          </a:p>
        </p:txBody>
      </p:sp>
      <p:sp>
        <p:nvSpPr>
          <p:cNvPr id="8" name="ananya.singh1@mastersunion.org"/>
          <p:cNvSpPr txBox="1"/>
          <p:nvPr/>
        </p:nvSpPr>
        <p:spPr>
          <a:xfrm>
            <a:off x="548640" y="4846320"/>
            <a:ext cx="5486400" cy="320040"/>
          </a:xfrm>
          <a:prstGeom prst="rect">
            <a:avLst/>
          </a:prstGeom>
          <a:noFill/>
          <a:ln/>
        </p:spPr>
        <p:txBody>
          <a:bodyPr wrap="square" lIns="0" tIns="0" rIns="0" bIns="0" rtlCol="0" anchor="t"/>
          <a:lstStyle/>
          <a:p>
            <a:pPr algn="l" indent="0" marL="0">
              <a:lnSpc>
                <a:spcPct val="100000"/>
              </a:lnSpc>
              <a:buNone/>
            </a:pPr>
            <a:r>
              <a:rPr lang="en-US" sz="1300" dirty="0">
                <a:solidFill>
                  <a:schemeClr val="tx1"/>
                </a:solidFill>
              </a:rPr>
              <a:t>ananya.singh1@mastersunion.org</a:t>
            </a:r>
            <a:endParaRPr lang="en-US" sz="1300" dirty="0"/>
          </a:p>
        </p:txBody>
      </p:sp>
      <p:sp>
        <p:nvSpPr>
          <p:cNvPr id="9" name="Chirag Naryani"/>
          <p:cNvSpPr txBox="1"/>
          <p:nvPr/>
        </p:nvSpPr>
        <p:spPr>
          <a:xfrm>
            <a:off x="6217920" y="4251960"/>
            <a:ext cx="5486400" cy="548640"/>
          </a:xfrm>
          <a:prstGeom prst="rect">
            <a:avLst/>
          </a:prstGeom>
          <a:noFill/>
          <a:ln/>
        </p:spPr>
        <p:txBody>
          <a:bodyPr wrap="square" lIns="0" tIns="0" rIns="0" bIns="0" rtlCol="0" anchor="t"/>
          <a:lstStyle/>
          <a:p>
            <a:pPr algn="l" indent="0" marL="0">
              <a:lnSpc>
                <a:spcPct val="100000"/>
              </a:lnSpc>
              <a:buNone/>
            </a:pPr>
            <a:r>
              <a:rPr lang="en-US" sz="3000" b="1" dirty="0">
                <a:solidFill>
                  <a:schemeClr val="tx1"/>
                </a:solidFill>
              </a:rPr>
              <a:t>Chirag Naryani</a:t>
            </a:r>
            <a:endParaRPr lang="en-US" sz="3000" dirty="0"/>
          </a:p>
        </p:txBody>
      </p:sp>
      <p:sp>
        <p:nvSpPr>
          <p:cNvPr id="10" name="chirag.naryani_UGTBM2028@mastersunion.or"/>
          <p:cNvSpPr txBox="1"/>
          <p:nvPr/>
        </p:nvSpPr>
        <p:spPr>
          <a:xfrm>
            <a:off x="6217920" y="4846320"/>
            <a:ext cx="5486400" cy="320040"/>
          </a:xfrm>
          <a:prstGeom prst="rect">
            <a:avLst/>
          </a:prstGeom>
          <a:noFill/>
          <a:ln/>
        </p:spPr>
        <p:txBody>
          <a:bodyPr wrap="square" lIns="0" tIns="0" rIns="0" bIns="0" rtlCol="0" anchor="t"/>
          <a:lstStyle/>
          <a:p>
            <a:pPr algn="l" indent="0" marL="0">
              <a:lnSpc>
                <a:spcPct val="100000"/>
              </a:lnSpc>
              <a:buNone/>
            </a:pPr>
            <a:r>
              <a:rPr lang="en-US" sz="1300" dirty="0">
                <a:solidFill>
                  <a:schemeClr val="tx1"/>
                </a:solidFill>
              </a:rPr>
              <a:t>chirag.naryani_UGTBM2028@mastersunion.org</a:t>
            </a:r>
            <a:endParaRPr lang="en-US" sz="1300" dirty="0"/>
          </a:p>
        </p:txBody>
      </p:sp>
      <p:sp>
        <p:nvSpPr>
          <p:cNvPr id="11" name="Text"/>
          <p:cNvSpPr txBox="1"/>
          <p:nvPr/>
        </p:nvSpPr>
        <p:spPr>
          <a:xfrm>
            <a:off x="548640" y="5532120"/>
            <a:ext cx="5486400" cy="548640"/>
          </a:xfrm>
          <a:prstGeom prst="rect">
            <a:avLst/>
          </a:prstGeom>
          <a:noFill/>
          <a:ln/>
        </p:spPr>
        <p:txBody>
          <a:bodyPr wrap="square" lIns="0" tIns="0" rIns="0" bIns="0" rtlCol="0" anchor="t"/>
          <a:lstStyle/>
          <a:p>
            <a:pPr algn="l" indent="0" marL="0">
              <a:lnSpc>
                <a:spcPct val="100000"/>
              </a:lnSpc>
              <a:buNone/>
            </a:pPr>
            <a:r>
              <a:rPr lang="en-US" sz="1300" dirty="0">
                <a:solidFill>
                  <a:schemeClr val="tx1"/>
                </a:solidFill>
              </a:rPr>
              <a:t>For further queries write to us at</a:t>
            </a:r>
            <a:endParaRPr lang="en-US" sz="1300" dirty="0"/>
          </a:p>
          <a:p>
            <a:pPr algn="l" indent="0" marL="0">
              <a:lnSpc>
                <a:spcPct val="100000"/>
              </a:lnSpc>
              <a:buNone/>
            </a:pPr>
            <a:r>
              <a:rPr lang="en-US" sz="1300" b="1" dirty="0">
                <a:solidFill>
                  <a:schemeClr val="tx1"/>
                </a:solidFill>
              </a:rPr>
              <a:t>milkyway@mastersunion.org</a:t>
            </a:r>
            <a:endParaRPr lang="en-US" sz="1300" dirty="0"/>
          </a:p>
        </p:txBody>
      </p:sp>
      <p:sp>
        <p:nvSpPr>
          <p:cNvPr id="12" name="Masters' Union University, Gurugram, Har"/>
          <p:cNvSpPr txBox="1"/>
          <p:nvPr/>
        </p:nvSpPr>
        <p:spPr>
          <a:xfrm>
            <a:off x="6217920" y="5532120"/>
            <a:ext cx="5394960" cy="548640"/>
          </a:xfrm>
          <a:prstGeom prst="rect">
            <a:avLst/>
          </a:prstGeom>
          <a:noFill/>
          <a:ln/>
        </p:spPr>
        <p:txBody>
          <a:bodyPr wrap="square" lIns="0" tIns="0" rIns="0" bIns="0" rtlCol="0" anchor="t"/>
          <a:lstStyle/>
          <a:p>
            <a:pPr algn="r" indent="0" marL="0">
              <a:lnSpc>
                <a:spcPct val="100000"/>
              </a:lnSpc>
              <a:buNone/>
            </a:pPr>
            <a:r>
              <a:rPr lang="en-US" sz="1300" dirty="0">
                <a:solidFill>
                  <a:schemeClr val="tx1"/>
                </a:solidFill>
              </a:rPr>
              <a:t>Masters' Union University, Gurugram, Haryana.</a:t>
            </a:r>
            <a:endParaRPr lang="en-US" sz="1300" dirty="0"/>
          </a:p>
        </p:txBody>
      </p:sp>
      <p:pic>
        <p:nvPicPr>
          <p:cNvPr id="13" name="Starburst" descr="/Users/xadxtyax/Library/Application Support/Claude/scratch-workspaces/7159731d-a44a-4097-bf70-afdcfed87503/0bd4f3ce-9e23-4993-bb7f-0a40b4577418/scratch-2026-09-29-b4af05/deck/.build/assets/starburst-black-1000.png">    </p:cNvPr>
          <p:cNvPicPr>
            <a:picLocks noChangeAspect="1"/>
          </p:cNvPicPr>
          <p:nvPr/>
        </p:nvPicPr>
        <p:blipFill>
          <a:blip r:embed="rId3"/>
          <a:stretch>
            <a:fillRect/>
          </a:stretch>
        </p:blipFill>
        <p:spPr>
          <a:xfrm>
            <a:off x="9646920" y="502920"/>
            <a:ext cx="2011680" cy="1973458"/>
          </a:xfrm>
          <a:prstGeom prst="rect">
            <a:avLst/>
          </a:prstGeom>
        </p:spPr>
      </p:pic>
      <p:sp>
        <p:nvSpPr>
          <p:cNvPr id="25" name="Slide Number Placeholder 0"/>
          <p:cNvSpPr>
            <a:spLocks noGrp="1"/>
          </p:cNvSpPr>
          <p:nvPr>
            <p:ph type="sldNum" sz="quarter" idx="4294967295"/>
          </p:nvPr>
        </p:nvSpPr>
        <p:spPr>
          <a:xfrm>
            <a:off x="10911535" y="6400800"/>
            <a:ext cx="73152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1"/>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HE UNIVERSE IS YOURS"/>
          <p:cNvSpPr txBox="1"/>
          <p:nvPr/>
        </p:nvSpPr>
        <p:spPr>
          <a:xfrm>
            <a:off x="0" y="685800"/>
            <a:ext cx="12191695" cy="457200"/>
          </a:xfrm>
          <a:prstGeom prst="rect">
            <a:avLst/>
          </a:prstGeom>
          <a:noFill/>
          <a:ln/>
        </p:spPr>
        <p:txBody>
          <a:bodyPr wrap="square" lIns="0" tIns="0" rIns="0" bIns="0" rtlCol="0" anchor="t"/>
          <a:lstStyle/>
          <a:p>
            <a:pPr algn="ctr" indent="0" marL="0">
              <a:lnSpc>
                <a:spcPct val="100000"/>
              </a:lnSpc>
              <a:buNone/>
            </a:pPr>
            <a:r>
              <a:rPr lang="en-US" sz="1800" b="1" spc="200" kern="0" dirty="0">
                <a:solidFill>
                  <a:schemeClr val="bg1"/>
                </a:solidFill>
              </a:rPr>
              <a:t>THE UNIVERSE IS YOURS</a:t>
            </a:r>
            <a:endParaRPr lang="en-US" sz="1800" dirty="0"/>
          </a:p>
        </p:txBody>
      </p:sp>
      <p:pic>
        <p:nvPicPr>
          <p:cNvPr id="3" name="Milky Way" descr="Milky Way">    </p:cNvPr>
          <p:cNvPicPr>
            <a:picLocks noChangeAspect="1"/>
          </p:cNvPicPr>
          <p:nvPr/>
        </p:nvPicPr>
        <p:blipFill>
          <a:blip r:embed="rId1"/>
          <a:stretch>
            <a:fillRect/>
          </a:stretch>
        </p:blipFill>
        <p:spPr>
          <a:xfrm>
            <a:off x="3626968" y="1280160"/>
            <a:ext cx="4937760" cy="3153112"/>
          </a:xfrm>
          <a:prstGeom prst="rect">
            <a:avLst/>
          </a:prstGeom>
        </p:spPr>
      </p:pic>
      <p:sp>
        <p:nvSpPr>
          <p:cNvPr id="4" name="A Masters' Union University Fest"/>
          <p:cNvSpPr txBox="1"/>
          <p:nvPr/>
        </p:nvSpPr>
        <p:spPr>
          <a:xfrm>
            <a:off x="0" y="4570432"/>
            <a:ext cx="12191695" cy="457200"/>
          </a:xfrm>
          <a:prstGeom prst="rect">
            <a:avLst/>
          </a:prstGeom>
          <a:noFill/>
          <a:ln/>
        </p:spPr>
        <p:txBody>
          <a:bodyPr wrap="square" lIns="0" tIns="0" rIns="0" bIns="0" rtlCol="0" anchor="t"/>
          <a:lstStyle/>
          <a:p>
            <a:pPr algn="ctr" indent="0" marL="0">
              <a:lnSpc>
                <a:spcPct val="100000"/>
              </a:lnSpc>
              <a:buNone/>
            </a:pPr>
            <a:r>
              <a:rPr lang="en-US" sz="2200" b="1" dirty="0">
                <a:solidFill>
                  <a:schemeClr val="bg1"/>
                </a:solidFill>
              </a:rPr>
              <a:t>A Masters' Union University Fest</a:t>
            </a:r>
            <a:endParaRPr lang="en-US" sz="2200" dirty="0"/>
          </a:p>
        </p:txBody>
      </p:sp>
      <p:pic>
        <p:nvPicPr>
          <p:cNvPr id="5" name="Masters' Union University" descr="Masters' Union University">    </p:cNvPr>
          <p:cNvPicPr>
            <a:picLocks noChangeAspect="1"/>
          </p:cNvPicPr>
          <p:nvPr/>
        </p:nvPicPr>
        <p:blipFill>
          <a:blip r:embed="rId2"/>
          <a:stretch>
            <a:fillRect/>
          </a:stretch>
        </p:blipFill>
        <p:spPr>
          <a:xfrm>
            <a:off x="4907128" y="5486400"/>
            <a:ext cx="2377440" cy="497281"/>
          </a:xfrm>
          <a:prstGeom prst="rect">
            <a:avLst/>
          </a:prstGeom>
        </p:spPr>
      </p:pic>
      <p:pic>
        <p:nvPicPr>
          <p:cNvPr id="6" name="Planet" descr="/Users/xadxtyax/Library/Application Support/Claude/scratch-workspaces/7159731d-a44a-4097-bf70-afdcfed87503/0bd4f3ce-9e23-4993-bb7f-0a40b4577418/scratch-2026-09-29-b4af05/deck/.build/assets/ringed-planet-1-purple-1200.png">    </p:cNvPr>
          <p:cNvPicPr>
            <a:picLocks noChangeAspect="1"/>
          </p:cNvPicPr>
          <p:nvPr/>
        </p:nvPicPr>
        <p:blipFill>
          <a:blip r:embed="rId3"/>
          <a:stretch>
            <a:fillRect/>
          </a:stretch>
        </p:blipFill>
        <p:spPr>
          <a:xfrm>
            <a:off x="-1005840" y="4206240"/>
            <a:ext cx="3291840" cy="2318004"/>
          </a:xfrm>
          <a:prstGeom prst="rect">
            <a:avLst/>
          </a:prstGeom>
        </p:spPr>
      </p:pic>
    </p:spTree>
  </p:cSld>
  <p:clrMapOvr>
    <a:masterClrMapping/>
  </p:clrMapOvr>
</p:sld>
</file>

<file path=ppt/theme/theme1.xml><?xml version="1.0" encoding="utf-8"?>
<a:theme xmlns:a="http://schemas.openxmlformats.org/drawingml/2006/main" name="Milky Way">
  <a:themeElements>
    <a:clrScheme name="Milky Way">
      <a:dk1>
        <a:srgbClr val="161417"/>
      </a:dk1>
      <a:lt1>
        <a:srgbClr val="F8F5ED"/>
      </a:lt1>
      <a:dk2>
        <a:srgbClr val="25246F"/>
      </a:dk2>
      <a:lt2>
        <a:srgbClr val="CFC9BC"/>
      </a:lt2>
      <a:accent1>
        <a:srgbClr val="FFD000"/>
      </a:accent1>
      <a:accent2>
        <a:srgbClr val="D845FC"/>
      </a:accent2>
      <a:accent3>
        <a:srgbClr val="1BBDE3"/>
      </a:accent3>
      <a:accent4>
        <a:srgbClr val="ACE635"/>
      </a:accent4>
      <a:accent5>
        <a:srgbClr val="8230C2"/>
      </a:accent5>
      <a:accent6>
        <a:srgbClr val="2F2FA9"/>
      </a:accent6>
      <a:hlink>
        <a:srgbClr val="1BBDE3"/>
      </a:hlink>
      <a:folHlink>
        <a:srgbClr val="D845FC"/>
      </a:folHlink>
    </a:clrScheme>
    <a:fontScheme name="Milky Way">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ricolage Grotesq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Masters' Union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Milky Way · Sponsorship 2027</dc:title>
  <dc:subject>PptxGenJS Presentation</dc:subject>
  <dc:creator>Masters' Union University</dc:creator>
  <cp:lastModifiedBy>Masters' Union University</cp:lastModifiedBy>
  <cp:revision>1</cp:revision>
  <dcterms:created xsi:type="dcterms:W3CDTF">2026-10-06T14:03:48Z</dcterms:created>
  <dcterms:modified xsi:type="dcterms:W3CDTF">2026-10-06T14:03:48Z</dcterms:modified>
</cp:coreProperties>
</file>